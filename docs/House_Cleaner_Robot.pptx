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line: this is a robot that vacuums a room on its own. Five simple steps. Everything else in this deck explains those five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the 'why': simulation lets us try dangerous things — running the battery to zero, blocking the dock — without breaking a real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If the audience remembers one picture, it should be this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walking through your own living room in the dark with a flashlight. The map is the picture you build in your head.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Emphasise 'lawnmower' — everyone understands mowing a lawn. 45 cm strips fit the robot's cleaning width.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jargon: 'navigator' vs 'driver' is the clearest way to explain global planner vs local controller.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battery bar is a good place to pause: 40% trigger, 95% resume, 1% hard stop. These three numbers explain the whole energy strategy.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dock is where most robotics demos fail. This slide shows the sequence and the safety principle: verify, never assume.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insight: recovery is layered. Small problems are fixed locally in seconds; only a real crash escalates to a full restart.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Analogy for ROS 2: a postal service. Each program posts messages to a mailbox and others subscribe to it. No program is wired directly to another.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numbers an audience usually asks about. Each one came from a real failure that was measured and fixed.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Stress that the user types exactly one command. The script handles permissions, stale containers and verification on its own.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demoing live, open the 3D window first and let it run while talking.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builds credibility: the system works because each of these was found and fixed by measuring, not guessing.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short. The roadmap signals the project is alive without overselling.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three-line summary, then offer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331720"/>
          </a:xfrm>
          <a:prstGeom prst="rect">
            <a:avLst/>
          </a:prstGeom>
          <a:solidFill>
            <a:srgbClr val="142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82296"/>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58368"/>
            <a:ext cx="10515600" cy="822960"/>
          </a:xfrm>
          <a:prstGeom prst="rect">
            <a:avLst/>
          </a:prstGeom>
          <a:noFill/>
        </p:spPr>
        <p:txBody>
          <a:bodyPr wrap="square" anchor="ctr" lIns="0" rIns="0" tIns="0" bIns="0">
            <a:spAutoFit/>
          </a:bodyPr>
          <a:lstStyle/>
          <a:p>
            <a:pPr algn="l">
              <a:lnSpc>
                <a:spcPct val="100000"/>
              </a:lnSpc>
            </a:pPr>
            <a:r>
              <a:rPr sz="4800" b="1" i="0">
                <a:solidFill>
                  <a:srgbClr val="FFFFFF"/>
                </a:solidFill>
                <a:latin typeface="Calibri"/>
              </a:rPr>
              <a:t>House Cleaner Robot</a:t>
            </a:r>
          </a:p>
        </p:txBody>
      </p:sp>
      <p:sp>
        <p:nvSpPr>
          <p:cNvPr id="5" name="TextBox 4"/>
          <p:cNvSpPr txBox="1"/>
          <p:nvPr/>
        </p:nvSpPr>
        <p:spPr>
          <a:xfrm>
            <a:off x="822960" y="1517904"/>
            <a:ext cx="10515600" cy="548640"/>
          </a:xfrm>
          <a:prstGeom prst="rect">
            <a:avLst/>
          </a:prstGeom>
          <a:noFill/>
        </p:spPr>
        <p:txBody>
          <a:bodyPr wrap="square" anchor="ctr" lIns="0" rIns="0" tIns="0" bIns="0">
            <a:spAutoFit/>
          </a:bodyPr>
          <a:lstStyle/>
          <a:p>
            <a:pPr algn="l">
              <a:lnSpc>
                <a:spcPct val="100000"/>
              </a:lnSpc>
            </a:pPr>
            <a:r>
              <a:rPr sz="2200" b="0" i="0">
                <a:solidFill>
                  <a:srgbClr val="BFD4EE"/>
                </a:solidFill>
                <a:latin typeface="Calibri"/>
              </a:rPr>
              <a:t>A small robot that cleans a room all by itself</a:t>
            </a:r>
          </a:p>
        </p:txBody>
      </p:sp>
      <p:sp>
        <p:nvSpPr>
          <p:cNvPr id="6" name="TextBox 5"/>
          <p:cNvSpPr txBox="1"/>
          <p:nvPr/>
        </p:nvSpPr>
        <p:spPr>
          <a:xfrm>
            <a:off x="822960" y="2788920"/>
            <a:ext cx="10515600" cy="457200"/>
          </a:xfrm>
          <a:prstGeom prst="rect">
            <a:avLst/>
          </a:prstGeom>
          <a:noFill/>
        </p:spPr>
        <p:txBody>
          <a:bodyPr wrap="square" anchor="ctr" lIns="0" rIns="0" tIns="0" bIns="0">
            <a:spAutoFit/>
          </a:bodyPr>
          <a:lstStyle/>
          <a:p>
            <a:pPr algn="l">
              <a:lnSpc>
                <a:spcPct val="100000"/>
              </a:lnSpc>
            </a:pPr>
            <a:r>
              <a:rPr sz="2000" b="0" i="1">
                <a:solidFill>
                  <a:srgbClr val="5A6472"/>
                </a:solidFill>
                <a:latin typeface="Calibri"/>
              </a:rPr>
              <a:t>What it does, how it thinks, and how it never gets stuck</a:t>
            </a:r>
          </a:p>
        </p:txBody>
      </p:sp>
      <p:sp>
        <p:nvSpPr>
          <p:cNvPr id="7" name="Rounded Rectangle 6"/>
          <p:cNvSpPr/>
          <p:nvPr/>
        </p:nvSpPr>
        <p:spPr>
          <a:xfrm>
            <a:off x="868680" y="3611880"/>
            <a:ext cx="1847088" cy="141732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675887"/>
            <a:ext cx="1664208" cy="1289304"/>
          </a:xfrm>
          <a:prstGeom prst="rect">
            <a:avLst/>
          </a:prstGeom>
          <a:noFill/>
        </p:spPr>
        <p:txBody>
          <a:bodyPr wrap="square" anchor="ctr" lIns="0" rIns="0" tIns="0" bIns="0">
            <a:spAutoFit/>
          </a:bodyPr>
          <a:lstStyle/>
          <a:p>
            <a:pPr algn="ctr">
              <a:lnSpc>
                <a:spcPct val="110000"/>
              </a:lnSpc>
            </a:pPr>
            <a:r>
              <a:rPr sz="1400" b="1" i="0">
                <a:solidFill>
                  <a:srgbClr val="1F6FB2"/>
                </a:solidFill>
                <a:latin typeface="Calibri"/>
              </a:rPr>
              <a:t>Build a map
of the room</a:t>
            </a:r>
          </a:p>
        </p:txBody>
      </p:sp>
      <p:sp>
        <p:nvSpPr>
          <p:cNvPr id="9" name="Right Arrow 8"/>
          <p:cNvSpPr/>
          <p:nvPr/>
        </p:nvSpPr>
        <p:spPr>
          <a:xfrm>
            <a:off x="2747772" y="4206240"/>
            <a:ext cx="210312" cy="237744"/>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90088" y="3611880"/>
            <a:ext cx="1847088" cy="141732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81528" y="3675887"/>
            <a:ext cx="1664208" cy="1289304"/>
          </a:xfrm>
          <a:prstGeom prst="rect">
            <a:avLst/>
          </a:prstGeom>
          <a:noFill/>
        </p:spPr>
        <p:txBody>
          <a:bodyPr wrap="square" anchor="ctr" lIns="0" rIns="0" tIns="0" bIns="0">
            <a:spAutoFit/>
          </a:bodyPr>
          <a:lstStyle/>
          <a:p>
            <a:pPr algn="ctr">
              <a:lnSpc>
                <a:spcPct val="110000"/>
              </a:lnSpc>
            </a:pPr>
            <a:r>
              <a:rPr sz="1400" b="1" i="0">
                <a:solidFill>
                  <a:srgbClr val="1F6FB2"/>
                </a:solidFill>
                <a:latin typeface="Calibri"/>
              </a:rPr>
              <a:t>Clean every
part in strips</a:t>
            </a:r>
          </a:p>
        </p:txBody>
      </p:sp>
      <p:sp>
        <p:nvSpPr>
          <p:cNvPr id="12" name="Right Arrow 11"/>
          <p:cNvSpPr/>
          <p:nvPr/>
        </p:nvSpPr>
        <p:spPr>
          <a:xfrm>
            <a:off x="4869180" y="4206240"/>
            <a:ext cx="210312" cy="237744"/>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11496" y="3611880"/>
            <a:ext cx="1847088" cy="141732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02936" y="3675887"/>
            <a:ext cx="1664208" cy="1289304"/>
          </a:xfrm>
          <a:prstGeom prst="rect">
            <a:avLst/>
          </a:prstGeom>
          <a:noFill/>
        </p:spPr>
        <p:txBody>
          <a:bodyPr wrap="square" anchor="ctr" lIns="0" rIns="0" tIns="0" bIns="0">
            <a:spAutoFit/>
          </a:bodyPr>
          <a:lstStyle/>
          <a:p>
            <a:pPr algn="ctr">
              <a:lnSpc>
                <a:spcPct val="110000"/>
              </a:lnSpc>
            </a:pPr>
            <a:r>
              <a:rPr sz="1400" b="1" i="0">
                <a:solidFill>
                  <a:srgbClr val="1F6FB2"/>
                </a:solidFill>
                <a:latin typeface="Calibri"/>
              </a:rPr>
              <a:t>Battery gets
low — it knows</a:t>
            </a:r>
          </a:p>
        </p:txBody>
      </p:sp>
      <p:sp>
        <p:nvSpPr>
          <p:cNvPr id="15" name="Right Arrow 14"/>
          <p:cNvSpPr/>
          <p:nvPr/>
        </p:nvSpPr>
        <p:spPr>
          <a:xfrm>
            <a:off x="6990588" y="4206240"/>
            <a:ext cx="210312" cy="237744"/>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32904" y="3611880"/>
            <a:ext cx="1847088" cy="141732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24344" y="3675887"/>
            <a:ext cx="1664208" cy="1289304"/>
          </a:xfrm>
          <a:prstGeom prst="rect">
            <a:avLst/>
          </a:prstGeom>
          <a:noFill/>
        </p:spPr>
        <p:txBody>
          <a:bodyPr wrap="square" anchor="ctr" lIns="0" rIns="0" tIns="0" bIns="0">
            <a:spAutoFit/>
          </a:bodyPr>
          <a:lstStyle/>
          <a:p>
            <a:pPr algn="ctr">
              <a:lnSpc>
                <a:spcPct val="110000"/>
              </a:lnSpc>
            </a:pPr>
            <a:r>
              <a:rPr sz="1400" b="1" i="0">
                <a:solidFill>
                  <a:srgbClr val="1F6FB2"/>
                </a:solidFill>
                <a:latin typeface="Calibri"/>
              </a:rPr>
              <a:t>Parks &amp; charges
at its dock</a:t>
            </a:r>
          </a:p>
        </p:txBody>
      </p:sp>
      <p:sp>
        <p:nvSpPr>
          <p:cNvPr id="18" name="Right Arrow 17"/>
          <p:cNvSpPr/>
          <p:nvPr/>
        </p:nvSpPr>
        <p:spPr>
          <a:xfrm>
            <a:off x="9111996" y="4206240"/>
            <a:ext cx="210312" cy="237744"/>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54312" y="3611880"/>
            <a:ext cx="1847088" cy="141732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45752" y="3675887"/>
            <a:ext cx="1664208" cy="1289304"/>
          </a:xfrm>
          <a:prstGeom prst="rect">
            <a:avLst/>
          </a:prstGeom>
          <a:noFill/>
        </p:spPr>
        <p:txBody>
          <a:bodyPr wrap="square" anchor="ctr" lIns="0" rIns="0" tIns="0" bIns="0">
            <a:spAutoFit/>
          </a:bodyPr>
          <a:lstStyle/>
          <a:p>
            <a:pPr algn="ctr">
              <a:lnSpc>
                <a:spcPct val="110000"/>
              </a:lnSpc>
            </a:pPr>
            <a:r>
              <a:rPr sz="1400" b="1" i="0">
                <a:solidFill>
                  <a:srgbClr val="1F6FB2"/>
                </a:solidFill>
                <a:latin typeface="Calibri"/>
              </a:rPr>
              <a:t>Goes back
to work again</a:t>
            </a:r>
          </a:p>
        </p:txBody>
      </p:sp>
      <p:sp>
        <p:nvSpPr>
          <p:cNvPr id="21" name="Rounded Rectangle 20"/>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In one line: it maps the room, cleans it in neat strips, and recharges itself when tired — no human needed.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What is this project?</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The plain-English version</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2/16</a:t>
            </a:r>
          </a:p>
        </p:txBody>
      </p:sp>
      <p:sp>
        <p:nvSpPr>
          <p:cNvPr id="6" name="Rounded Rectangle 5"/>
          <p:cNvSpPr/>
          <p:nvPr/>
        </p:nvSpPr>
        <p:spPr>
          <a:xfrm>
            <a:off x="566928" y="1298448"/>
            <a:ext cx="11064240" cy="1051560"/>
          </a:xfrm>
          <a:prstGeom prst="roundRect">
            <a:avLst>
              <a:gd name="adj" fmla="val 12000"/>
            </a:avLst>
          </a:prstGeom>
          <a:solidFill>
            <a:srgbClr val="FFF4E0"/>
          </a:solidFill>
          <a:ln w="15875">
            <a:solidFill>
              <a:srgbClr val="F0D2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298448"/>
            <a:ext cx="10424160" cy="1051560"/>
          </a:xfrm>
          <a:prstGeom prst="rect">
            <a:avLst/>
          </a:prstGeom>
          <a:noFill/>
        </p:spPr>
        <p:txBody>
          <a:bodyPr wrap="square" anchor="ctr" lIns="0" rIns="0" tIns="0" bIns="0">
            <a:spAutoFit/>
          </a:bodyPr>
          <a:lstStyle/>
          <a:p>
            <a:pPr algn="l">
              <a:lnSpc>
                <a:spcPct val="100000"/>
              </a:lnSpc>
            </a:pPr>
            <a:r>
              <a:rPr sz="1900" b="1" i="0">
                <a:solidFill>
                  <a:srgbClr val="8A540A"/>
                </a:solidFill>
                <a:latin typeface="Calibri"/>
              </a:rPr>
              <a:t>A robot vacuum that works in a computer, so we can test it safely before buying hardware.</a:t>
            </a:r>
          </a:p>
        </p:txBody>
      </p:sp>
      <p:sp>
        <p:nvSpPr>
          <p:cNvPr id="8" name="Rounded Rectangle 7"/>
          <p:cNvSpPr/>
          <p:nvPr/>
        </p:nvSpPr>
        <p:spPr>
          <a:xfrm>
            <a:off x="566928" y="2606040"/>
            <a:ext cx="2670048" cy="29718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606040"/>
            <a:ext cx="68580" cy="29718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752344"/>
            <a:ext cx="221284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1.  Real robot, virtual room</a:t>
            </a:r>
          </a:p>
        </p:txBody>
      </p:sp>
      <p:sp>
        <p:nvSpPr>
          <p:cNvPr id="11" name="TextBox 10"/>
          <p:cNvSpPr txBox="1"/>
          <p:nvPr/>
        </p:nvSpPr>
        <p:spPr>
          <a:xfrm>
            <a:off x="804672" y="3264408"/>
            <a:ext cx="2212848" cy="218541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It is a TurtleBot3 Burger robot driving inside a pretend house made in a physics simulator.</a:t>
            </a:r>
          </a:p>
        </p:txBody>
      </p:sp>
      <p:sp>
        <p:nvSpPr>
          <p:cNvPr id="12" name="Rounded Rectangle 11"/>
          <p:cNvSpPr/>
          <p:nvPr/>
        </p:nvSpPr>
        <p:spPr>
          <a:xfrm>
            <a:off x="3374136" y="2606040"/>
            <a:ext cx="2670048" cy="29718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4136" y="2606040"/>
            <a:ext cx="68580" cy="297180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11880" y="2752344"/>
            <a:ext cx="2212848" cy="365760"/>
          </a:xfrm>
          <a:prstGeom prst="rect">
            <a:avLst/>
          </a:prstGeom>
          <a:noFill/>
        </p:spPr>
        <p:txBody>
          <a:bodyPr wrap="square" anchor="t" lIns="0" rIns="0" tIns="0" bIns="0">
            <a:spAutoFit/>
          </a:bodyPr>
          <a:lstStyle/>
          <a:p>
            <a:pPr algn="l">
              <a:lnSpc>
                <a:spcPct val="100000"/>
              </a:lnSpc>
            </a:pPr>
            <a:r>
              <a:rPr sz="1500" b="1" i="0">
                <a:solidFill>
                  <a:srgbClr val="178F54"/>
                </a:solidFill>
                <a:latin typeface="Calibri"/>
              </a:rPr>
              <a:t>2.  No map, no problem</a:t>
            </a:r>
          </a:p>
        </p:txBody>
      </p:sp>
      <p:sp>
        <p:nvSpPr>
          <p:cNvPr id="15" name="TextBox 14"/>
          <p:cNvSpPr txBox="1"/>
          <p:nvPr/>
        </p:nvSpPr>
        <p:spPr>
          <a:xfrm>
            <a:off x="3611880" y="3264408"/>
            <a:ext cx="2212848" cy="218541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It starts knowing nothing about the room and builds the map as it drives around.</a:t>
            </a:r>
          </a:p>
        </p:txBody>
      </p:sp>
      <p:sp>
        <p:nvSpPr>
          <p:cNvPr id="16" name="Rounded Rectangle 15"/>
          <p:cNvSpPr/>
          <p:nvPr/>
        </p:nvSpPr>
        <p:spPr>
          <a:xfrm>
            <a:off x="6181344" y="2606040"/>
            <a:ext cx="2670048" cy="29718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2606040"/>
            <a:ext cx="68580" cy="297180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2752344"/>
            <a:ext cx="2212848" cy="365760"/>
          </a:xfrm>
          <a:prstGeom prst="rect">
            <a:avLst/>
          </a:prstGeom>
          <a:noFill/>
        </p:spPr>
        <p:txBody>
          <a:bodyPr wrap="square" anchor="t" lIns="0" rIns="0" tIns="0" bIns="0">
            <a:spAutoFit/>
          </a:bodyPr>
          <a:lstStyle/>
          <a:p>
            <a:pPr algn="l">
              <a:lnSpc>
                <a:spcPct val="100000"/>
              </a:lnSpc>
            </a:pPr>
            <a:r>
              <a:rPr sz="1500" b="1" i="0">
                <a:solidFill>
                  <a:srgbClr val="E07B1B"/>
                </a:solidFill>
                <a:latin typeface="Calibri"/>
              </a:rPr>
              <a:t>3.  It charges itself</a:t>
            </a:r>
          </a:p>
        </p:txBody>
      </p:sp>
      <p:sp>
        <p:nvSpPr>
          <p:cNvPr id="19" name="TextBox 18"/>
          <p:cNvSpPr txBox="1"/>
          <p:nvPr/>
        </p:nvSpPr>
        <p:spPr>
          <a:xfrm>
            <a:off x="6419088" y="3264408"/>
            <a:ext cx="2212848" cy="218541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When the battery runs low it drives back to its dock, charges up, and gets back to work.</a:t>
            </a:r>
          </a:p>
        </p:txBody>
      </p:sp>
      <p:sp>
        <p:nvSpPr>
          <p:cNvPr id="20" name="Rounded Rectangle 19"/>
          <p:cNvSpPr/>
          <p:nvPr/>
        </p:nvSpPr>
        <p:spPr>
          <a:xfrm>
            <a:off x="8988552" y="2606040"/>
            <a:ext cx="2670048" cy="29718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88552" y="2606040"/>
            <a:ext cx="68580" cy="2971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752344"/>
            <a:ext cx="2212848" cy="365760"/>
          </a:xfrm>
          <a:prstGeom prst="rect">
            <a:avLst/>
          </a:prstGeom>
          <a:noFill/>
        </p:spPr>
        <p:txBody>
          <a:bodyPr wrap="square" anchor="t" lIns="0" rIns="0" tIns="0" bIns="0">
            <a:spAutoFit/>
          </a:bodyPr>
          <a:lstStyle/>
          <a:p>
            <a:pPr algn="l">
              <a:lnSpc>
                <a:spcPct val="100000"/>
              </a:lnSpc>
            </a:pPr>
            <a:r>
              <a:rPr sz="1500" b="1" i="0">
                <a:solidFill>
                  <a:srgbClr val="C0392B"/>
                </a:solidFill>
                <a:latin typeface="Calibri"/>
              </a:rPr>
              <a:t>4.  Built to never get stuck</a:t>
            </a:r>
          </a:p>
        </p:txBody>
      </p:sp>
      <p:sp>
        <p:nvSpPr>
          <p:cNvPr id="23" name="TextBox 22"/>
          <p:cNvSpPr txBox="1"/>
          <p:nvPr/>
        </p:nvSpPr>
        <p:spPr>
          <a:xfrm>
            <a:off x="9226296" y="3264408"/>
            <a:ext cx="2212848" cy="218541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Three layers of 'babysitters' watch it and fix problems automatically.</a:t>
            </a:r>
          </a:p>
        </p:txBody>
      </p:sp>
      <p:sp>
        <p:nvSpPr>
          <p:cNvPr id="24" name="TextBox 23"/>
          <p:cNvSpPr txBox="1"/>
          <p:nvPr/>
        </p:nvSpPr>
        <p:spPr>
          <a:xfrm>
            <a:off x="566928" y="5742432"/>
            <a:ext cx="11064240" cy="365760"/>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You can watch all of it live: the 3D room window, a dashboard view, and a web page in your browser.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The robot's day, in 5 steps</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The whole mission is one simple loop</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3/16</a:t>
            </a:r>
          </a:p>
        </p:txBody>
      </p:sp>
      <p:sp>
        <p:nvSpPr>
          <p:cNvPr id="6" name="Oval 5"/>
          <p:cNvSpPr/>
          <p:nvPr/>
        </p:nvSpPr>
        <p:spPr>
          <a:xfrm>
            <a:off x="685800" y="1600200"/>
            <a:ext cx="1051560" cy="105156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1051560" cy="1051560"/>
          </a:xfrm>
          <a:prstGeom prst="rect">
            <a:avLst/>
          </a:prstGeom>
          <a:noFill/>
        </p:spPr>
        <p:txBody>
          <a:bodyPr wrap="square" anchor="ctr" lIns="0" rIns="0" tIns="0" bIns="0">
            <a:spAutoFit/>
          </a:bodyPr>
          <a:lstStyle/>
          <a:p>
            <a:pPr algn="ctr">
              <a:lnSpc>
                <a:spcPct val="100000"/>
              </a:lnSpc>
            </a:pPr>
            <a:r>
              <a:rPr sz="3000" b="1" i="0">
                <a:solidFill>
                  <a:srgbClr val="FFFFFF"/>
                </a:solidFill>
                <a:latin typeface="Calibri"/>
              </a:rPr>
              <a:t>1</a:t>
            </a:r>
          </a:p>
        </p:txBody>
      </p:sp>
      <p:sp>
        <p:nvSpPr>
          <p:cNvPr id="8" name="TextBox 7"/>
          <p:cNvSpPr txBox="1"/>
          <p:nvPr/>
        </p:nvSpPr>
        <p:spPr>
          <a:xfrm>
            <a:off x="365760" y="2706624"/>
            <a:ext cx="1691640" cy="457200"/>
          </a:xfrm>
          <a:prstGeom prst="rect">
            <a:avLst/>
          </a:prstGeom>
          <a:noFill/>
        </p:spPr>
        <p:txBody>
          <a:bodyPr wrap="square" anchor="t" lIns="0" rIns="0" tIns="0" bIns="0">
            <a:spAutoFit/>
          </a:bodyPr>
          <a:lstStyle/>
          <a:p>
            <a:pPr algn="ctr">
              <a:lnSpc>
                <a:spcPct val="100000"/>
              </a:lnSpc>
            </a:pPr>
            <a:r>
              <a:rPr sz="1900" b="1" i="0">
                <a:solidFill>
                  <a:srgbClr val="142B50"/>
                </a:solidFill>
                <a:latin typeface="Calibri"/>
              </a:rPr>
              <a:t>Map</a:t>
            </a:r>
          </a:p>
        </p:txBody>
      </p:sp>
      <p:sp>
        <p:nvSpPr>
          <p:cNvPr id="9" name="TextBox 8"/>
          <p:cNvSpPr txBox="1"/>
          <p:nvPr/>
        </p:nvSpPr>
        <p:spPr>
          <a:xfrm>
            <a:off x="365760" y="3090672"/>
            <a:ext cx="1691640" cy="566928"/>
          </a:xfrm>
          <a:prstGeom prst="rect">
            <a:avLst/>
          </a:prstGeom>
          <a:noFill/>
        </p:spPr>
        <p:txBody>
          <a:bodyPr wrap="square" anchor="t" lIns="0" rIns="0" tIns="0" bIns="0">
            <a:spAutoFit/>
          </a:bodyPr>
          <a:lstStyle/>
          <a:p>
            <a:pPr algn="ctr">
              <a:lnSpc>
                <a:spcPct val="100000"/>
              </a:lnSpc>
            </a:pPr>
            <a:r>
              <a:rPr sz="1200" b="0" i="0">
                <a:solidFill>
                  <a:srgbClr val="5A6472"/>
                </a:solidFill>
                <a:latin typeface="Calibri"/>
              </a:rPr>
              <a:t>learn the room</a:t>
            </a:r>
          </a:p>
        </p:txBody>
      </p:sp>
      <p:sp>
        <p:nvSpPr>
          <p:cNvPr id="10" name="Right Arrow 9"/>
          <p:cNvSpPr/>
          <p:nvPr/>
        </p:nvSpPr>
        <p:spPr>
          <a:xfrm>
            <a:off x="1773936" y="1993392"/>
            <a:ext cx="310896" cy="27432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21408" y="1600200"/>
            <a:ext cx="1051560" cy="1051560"/>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21408" y="1600200"/>
            <a:ext cx="1051560" cy="1051560"/>
          </a:xfrm>
          <a:prstGeom prst="rect">
            <a:avLst/>
          </a:prstGeom>
          <a:noFill/>
        </p:spPr>
        <p:txBody>
          <a:bodyPr wrap="square" anchor="ctr" lIns="0" rIns="0" tIns="0" bIns="0">
            <a:spAutoFit/>
          </a:bodyPr>
          <a:lstStyle/>
          <a:p>
            <a:pPr algn="ctr">
              <a:lnSpc>
                <a:spcPct val="100000"/>
              </a:lnSpc>
            </a:pPr>
            <a:r>
              <a:rPr sz="3000" b="1" i="0">
                <a:solidFill>
                  <a:srgbClr val="FFFFFF"/>
                </a:solidFill>
                <a:latin typeface="Calibri"/>
              </a:rPr>
              <a:t>2</a:t>
            </a:r>
          </a:p>
        </p:txBody>
      </p:sp>
      <p:sp>
        <p:nvSpPr>
          <p:cNvPr id="13" name="TextBox 12"/>
          <p:cNvSpPr txBox="1"/>
          <p:nvPr/>
        </p:nvSpPr>
        <p:spPr>
          <a:xfrm>
            <a:off x="1801368" y="2706624"/>
            <a:ext cx="1691640" cy="457200"/>
          </a:xfrm>
          <a:prstGeom prst="rect">
            <a:avLst/>
          </a:prstGeom>
          <a:noFill/>
        </p:spPr>
        <p:txBody>
          <a:bodyPr wrap="square" anchor="t" lIns="0" rIns="0" tIns="0" bIns="0">
            <a:spAutoFit/>
          </a:bodyPr>
          <a:lstStyle/>
          <a:p>
            <a:pPr algn="ctr">
              <a:lnSpc>
                <a:spcPct val="100000"/>
              </a:lnSpc>
            </a:pPr>
            <a:r>
              <a:rPr sz="1900" b="1" i="0">
                <a:solidFill>
                  <a:srgbClr val="142B50"/>
                </a:solidFill>
                <a:latin typeface="Calibri"/>
              </a:rPr>
              <a:t>Clean</a:t>
            </a:r>
          </a:p>
        </p:txBody>
      </p:sp>
      <p:sp>
        <p:nvSpPr>
          <p:cNvPr id="14" name="TextBox 13"/>
          <p:cNvSpPr txBox="1"/>
          <p:nvPr/>
        </p:nvSpPr>
        <p:spPr>
          <a:xfrm>
            <a:off x="1801368" y="3090672"/>
            <a:ext cx="1691640" cy="566928"/>
          </a:xfrm>
          <a:prstGeom prst="rect">
            <a:avLst/>
          </a:prstGeom>
          <a:noFill/>
        </p:spPr>
        <p:txBody>
          <a:bodyPr wrap="square" anchor="t" lIns="0" rIns="0" tIns="0" bIns="0">
            <a:spAutoFit/>
          </a:bodyPr>
          <a:lstStyle/>
          <a:p>
            <a:pPr algn="ctr">
              <a:lnSpc>
                <a:spcPct val="100000"/>
              </a:lnSpc>
            </a:pPr>
            <a:r>
              <a:rPr sz="1200" b="0" i="0">
                <a:solidFill>
                  <a:srgbClr val="5A6472"/>
                </a:solidFill>
                <a:latin typeface="Calibri"/>
              </a:rPr>
              <a:t>neat strips</a:t>
            </a:r>
          </a:p>
        </p:txBody>
      </p:sp>
      <p:sp>
        <p:nvSpPr>
          <p:cNvPr id="15" name="Right Arrow 14"/>
          <p:cNvSpPr/>
          <p:nvPr/>
        </p:nvSpPr>
        <p:spPr>
          <a:xfrm>
            <a:off x="3209544" y="1993392"/>
            <a:ext cx="310896" cy="27432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57016" y="1600200"/>
            <a:ext cx="1051560" cy="1051560"/>
          </a:xfrm>
          <a:prstGeom prst="ellipse">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57016" y="1600200"/>
            <a:ext cx="1051560" cy="1051560"/>
          </a:xfrm>
          <a:prstGeom prst="rect">
            <a:avLst/>
          </a:prstGeom>
          <a:noFill/>
        </p:spPr>
        <p:txBody>
          <a:bodyPr wrap="square" anchor="ctr" lIns="0" rIns="0" tIns="0" bIns="0">
            <a:spAutoFit/>
          </a:bodyPr>
          <a:lstStyle/>
          <a:p>
            <a:pPr algn="ctr">
              <a:lnSpc>
                <a:spcPct val="100000"/>
              </a:lnSpc>
            </a:pPr>
            <a:r>
              <a:rPr sz="3000" b="1" i="0">
                <a:solidFill>
                  <a:srgbClr val="FFFFFF"/>
                </a:solidFill>
                <a:latin typeface="Calibri"/>
              </a:rPr>
              <a:t>3</a:t>
            </a:r>
          </a:p>
        </p:txBody>
      </p:sp>
      <p:sp>
        <p:nvSpPr>
          <p:cNvPr id="18" name="TextBox 17"/>
          <p:cNvSpPr txBox="1"/>
          <p:nvPr/>
        </p:nvSpPr>
        <p:spPr>
          <a:xfrm>
            <a:off x="3236976" y="2706624"/>
            <a:ext cx="1691640" cy="457200"/>
          </a:xfrm>
          <a:prstGeom prst="rect">
            <a:avLst/>
          </a:prstGeom>
          <a:noFill/>
        </p:spPr>
        <p:txBody>
          <a:bodyPr wrap="square" anchor="t" lIns="0" rIns="0" tIns="0" bIns="0">
            <a:spAutoFit/>
          </a:bodyPr>
          <a:lstStyle/>
          <a:p>
            <a:pPr algn="ctr">
              <a:lnSpc>
                <a:spcPct val="100000"/>
              </a:lnSpc>
            </a:pPr>
            <a:r>
              <a:rPr sz="1900" b="1" i="0">
                <a:solidFill>
                  <a:srgbClr val="142B50"/>
                </a:solidFill>
                <a:latin typeface="Calibri"/>
              </a:rPr>
              <a:t>Tired</a:t>
            </a:r>
          </a:p>
        </p:txBody>
      </p:sp>
      <p:sp>
        <p:nvSpPr>
          <p:cNvPr id="19" name="TextBox 18"/>
          <p:cNvSpPr txBox="1"/>
          <p:nvPr/>
        </p:nvSpPr>
        <p:spPr>
          <a:xfrm>
            <a:off x="3236976" y="3090672"/>
            <a:ext cx="1691640" cy="566928"/>
          </a:xfrm>
          <a:prstGeom prst="rect">
            <a:avLst/>
          </a:prstGeom>
          <a:noFill/>
        </p:spPr>
        <p:txBody>
          <a:bodyPr wrap="square" anchor="t" lIns="0" rIns="0" tIns="0" bIns="0">
            <a:spAutoFit/>
          </a:bodyPr>
          <a:lstStyle/>
          <a:p>
            <a:pPr algn="ctr">
              <a:lnSpc>
                <a:spcPct val="100000"/>
              </a:lnSpc>
            </a:pPr>
            <a:r>
              <a:rPr sz="1200" b="0" i="0">
                <a:solidFill>
                  <a:srgbClr val="5A6472"/>
                </a:solidFill>
                <a:latin typeface="Calibri"/>
              </a:rPr>
              <a:t>battery low</a:t>
            </a:r>
          </a:p>
        </p:txBody>
      </p:sp>
      <p:sp>
        <p:nvSpPr>
          <p:cNvPr id="20" name="Right Arrow 19"/>
          <p:cNvSpPr/>
          <p:nvPr/>
        </p:nvSpPr>
        <p:spPr>
          <a:xfrm>
            <a:off x="4645152" y="1993392"/>
            <a:ext cx="310896" cy="27432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992624" y="1600200"/>
            <a:ext cx="1051560" cy="1051560"/>
          </a:xfrm>
          <a:prstGeom prst="ellipse">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92624" y="1600200"/>
            <a:ext cx="1051560" cy="1051560"/>
          </a:xfrm>
          <a:prstGeom prst="rect">
            <a:avLst/>
          </a:prstGeom>
          <a:noFill/>
        </p:spPr>
        <p:txBody>
          <a:bodyPr wrap="square" anchor="ctr" lIns="0" rIns="0" tIns="0" bIns="0">
            <a:spAutoFit/>
          </a:bodyPr>
          <a:lstStyle/>
          <a:p>
            <a:pPr algn="ctr">
              <a:lnSpc>
                <a:spcPct val="100000"/>
              </a:lnSpc>
            </a:pPr>
            <a:r>
              <a:rPr sz="3000" b="1" i="0">
                <a:solidFill>
                  <a:srgbClr val="FFFFFF"/>
                </a:solidFill>
                <a:latin typeface="Calibri"/>
              </a:rPr>
              <a:t>4</a:t>
            </a:r>
          </a:p>
        </p:txBody>
      </p:sp>
      <p:sp>
        <p:nvSpPr>
          <p:cNvPr id="23" name="TextBox 22"/>
          <p:cNvSpPr txBox="1"/>
          <p:nvPr/>
        </p:nvSpPr>
        <p:spPr>
          <a:xfrm>
            <a:off x="4672584" y="2706624"/>
            <a:ext cx="1691640" cy="457200"/>
          </a:xfrm>
          <a:prstGeom prst="rect">
            <a:avLst/>
          </a:prstGeom>
          <a:noFill/>
        </p:spPr>
        <p:txBody>
          <a:bodyPr wrap="square" anchor="t" lIns="0" rIns="0" tIns="0" bIns="0">
            <a:spAutoFit/>
          </a:bodyPr>
          <a:lstStyle/>
          <a:p>
            <a:pPr algn="ctr">
              <a:lnSpc>
                <a:spcPct val="100000"/>
              </a:lnSpc>
            </a:pPr>
            <a:r>
              <a:rPr sz="1900" b="1" i="0">
                <a:solidFill>
                  <a:srgbClr val="142B50"/>
                </a:solidFill>
                <a:latin typeface="Calibri"/>
              </a:rPr>
              <a:t>Charge</a:t>
            </a:r>
          </a:p>
        </p:txBody>
      </p:sp>
      <p:sp>
        <p:nvSpPr>
          <p:cNvPr id="24" name="TextBox 23"/>
          <p:cNvSpPr txBox="1"/>
          <p:nvPr/>
        </p:nvSpPr>
        <p:spPr>
          <a:xfrm>
            <a:off x="4672584" y="3090672"/>
            <a:ext cx="1691640" cy="566928"/>
          </a:xfrm>
          <a:prstGeom prst="rect">
            <a:avLst/>
          </a:prstGeom>
          <a:noFill/>
        </p:spPr>
        <p:txBody>
          <a:bodyPr wrap="square" anchor="t" lIns="0" rIns="0" tIns="0" bIns="0">
            <a:spAutoFit/>
          </a:bodyPr>
          <a:lstStyle/>
          <a:p>
            <a:pPr algn="ctr">
              <a:lnSpc>
                <a:spcPct val="100000"/>
              </a:lnSpc>
            </a:pPr>
            <a:r>
              <a:rPr sz="1200" b="0" i="0">
                <a:solidFill>
                  <a:srgbClr val="5A6472"/>
                </a:solidFill>
                <a:latin typeface="Calibri"/>
              </a:rPr>
              <a:t>at the dock</a:t>
            </a:r>
          </a:p>
        </p:txBody>
      </p:sp>
      <p:sp>
        <p:nvSpPr>
          <p:cNvPr id="25" name="Right Arrow 24"/>
          <p:cNvSpPr/>
          <p:nvPr/>
        </p:nvSpPr>
        <p:spPr>
          <a:xfrm>
            <a:off x="6080760" y="1993392"/>
            <a:ext cx="310896" cy="274320"/>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428232" y="1600200"/>
            <a:ext cx="1051560" cy="1051560"/>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28232" y="1600200"/>
            <a:ext cx="1051560" cy="1051560"/>
          </a:xfrm>
          <a:prstGeom prst="rect">
            <a:avLst/>
          </a:prstGeom>
          <a:noFill/>
        </p:spPr>
        <p:txBody>
          <a:bodyPr wrap="square" anchor="ctr" lIns="0" rIns="0" tIns="0" bIns="0">
            <a:spAutoFit/>
          </a:bodyPr>
          <a:lstStyle/>
          <a:p>
            <a:pPr algn="ctr">
              <a:lnSpc>
                <a:spcPct val="100000"/>
              </a:lnSpc>
            </a:pPr>
            <a:r>
              <a:rPr sz="3000" b="1" i="0">
                <a:solidFill>
                  <a:srgbClr val="FFFFFF"/>
                </a:solidFill>
                <a:latin typeface="Calibri"/>
              </a:rPr>
              <a:t>5</a:t>
            </a:r>
          </a:p>
        </p:txBody>
      </p:sp>
      <p:sp>
        <p:nvSpPr>
          <p:cNvPr id="28" name="TextBox 27"/>
          <p:cNvSpPr txBox="1"/>
          <p:nvPr/>
        </p:nvSpPr>
        <p:spPr>
          <a:xfrm>
            <a:off x="6108192" y="2706624"/>
            <a:ext cx="1691640" cy="457200"/>
          </a:xfrm>
          <a:prstGeom prst="rect">
            <a:avLst/>
          </a:prstGeom>
          <a:noFill/>
        </p:spPr>
        <p:txBody>
          <a:bodyPr wrap="square" anchor="t" lIns="0" rIns="0" tIns="0" bIns="0">
            <a:spAutoFit/>
          </a:bodyPr>
          <a:lstStyle/>
          <a:p>
            <a:pPr algn="ctr">
              <a:lnSpc>
                <a:spcPct val="100000"/>
              </a:lnSpc>
            </a:pPr>
            <a:r>
              <a:rPr sz="1900" b="1" i="0">
                <a:solidFill>
                  <a:srgbClr val="142B50"/>
                </a:solidFill>
                <a:latin typeface="Calibri"/>
              </a:rPr>
              <a:t>Resume</a:t>
            </a:r>
          </a:p>
        </p:txBody>
      </p:sp>
      <p:sp>
        <p:nvSpPr>
          <p:cNvPr id="29" name="TextBox 28"/>
          <p:cNvSpPr txBox="1"/>
          <p:nvPr/>
        </p:nvSpPr>
        <p:spPr>
          <a:xfrm>
            <a:off x="6108192" y="3090672"/>
            <a:ext cx="1691640" cy="566928"/>
          </a:xfrm>
          <a:prstGeom prst="rect">
            <a:avLst/>
          </a:prstGeom>
          <a:noFill/>
        </p:spPr>
        <p:txBody>
          <a:bodyPr wrap="square" anchor="t" lIns="0" rIns="0" tIns="0" bIns="0">
            <a:spAutoFit/>
          </a:bodyPr>
          <a:lstStyle/>
          <a:p>
            <a:pPr algn="ctr">
              <a:lnSpc>
                <a:spcPct val="100000"/>
              </a:lnSpc>
            </a:pPr>
            <a:r>
              <a:rPr sz="1200" b="0" i="0">
                <a:solidFill>
                  <a:srgbClr val="5A6472"/>
                </a:solidFill>
                <a:latin typeface="Calibri"/>
              </a:rPr>
              <a:t>and repeat</a:t>
            </a:r>
          </a:p>
        </p:txBody>
      </p:sp>
      <p:sp>
        <p:nvSpPr>
          <p:cNvPr id="30" name="Rectangle 29"/>
          <p:cNvSpPr/>
          <p:nvPr/>
        </p:nvSpPr>
        <p:spPr>
          <a:xfrm>
            <a:off x="566928" y="3794760"/>
            <a:ext cx="11064240" cy="45720"/>
          </a:xfrm>
          <a:prstGeom prst="rect">
            <a:avLst/>
          </a:prstGeom>
          <a:solidFill>
            <a:srgbClr val="D3D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3950208"/>
            <a:ext cx="11064240" cy="411480"/>
          </a:xfrm>
          <a:prstGeom prst="rect">
            <a:avLst/>
          </a:prstGeom>
          <a:noFill/>
        </p:spPr>
        <p:txBody>
          <a:bodyPr wrap="square" anchor="ctr" lIns="0" rIns="0" tIns="0" bIns="0">
            <a:spAutoFit/>
          </a:bodyPr>
          <a:lstStyle/>
          <a:p>
            <a:pPr algn="ctr">
              <a:lnSpc>
                <a:spcPct val="100000"/>
              </a:lnSpc>
            </a:pPr>
            <a:r>
              <a:rPr sz="1500" b="0" i="1">
                <a:solidFill>
                  <a:srgbClr val="5A6472"/>
                </a:solidFill>
                <a:latin typeface="Calibri"/>
              </a:rPr>
              <a:t>…then step 5 loops straight back to step 2, so it cleans pass after pass.</a:t>
            </a:r>
          </a:p>
        </p:txBody>
      </p:sp>
      <p:sp>
        <p:nvSpPr>
          <p:cNvPr id="32" name="Rounded Rectangle 31"/>
          <p:cNvSpPr/>
          <p:nvPr/>
        </p:nvSpPr>
        <p:spPr>
          <a:xfrm>
            <a:off x="566928" y="4572000"/>
            <a:ext cx="11064240" cy="402336"/>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4572000"/>
            <a:ext cx="2743200" cy="402336"/>
          </a:xfrm>
          <a:prstGeom prst="rect">
            <a:avLst/>
          </a:prstGeom>
          <a:noFill/>
        </p:spPr>
        <p:txBody>
          <a:bodyPr wrap="square" anchor="ctr" lIns="0" rIns="0" tIns="0" bIns="0">
            <a:spAutoFit/>
          </a:bodyPr>
          <a:lstStyle/>
          <a:p>
            <a:pPr algn="l">
              <a:lnSpc>
                <a:spcPct val="100000"/>
              </a:lnSpc>
            </a:pPr>
            <a:r>
              <a:rPr sz="1400" b="1" i="0">
                <a:solidFill>
                  <a:srgbClr val="1F6FB2"/>
                </a:solidFill>
                <a:latin typeface="Calibri"/>
              </a:rPr>
              <a:t>How it decides</a:t>
            </a:r>
          </a:p>
        </p:txBody>
      </p:sp>
      <p:sp>
        <p:nvSpPr>
          <p:cNvPr id="34" name="TextBox 33"/>
          <p:cNvSpPr txBox="1"/>
          <p:nvPr/>
        </p:nvSpPr>
        <p:spPr>
          <a:xfrm>
            <a:off x="3657600" y="4572000"/>
            <a:ext cx="7772400" cy="402336"/>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It checks its battery level constantly. Below 40% it stops cleaning and heads home.</a:t>
            </a:r>
          </a:p>
        </p:txBody>
      </p:sp>
      <p:sp>
        <p:nvSpPr>
          <p:cNvPr id="35" name="Rounded Rectangle 34"/>
          <p:cNvSpPr/>
          <p:nvPr/>
        </p:nvSpPr>
        <p:spPr>
          <a:xfrm>
            <a:off x="566928" y="5047488"/>
            <a:ext cx="11064240" cy="402336"/>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047488"/>
            <a:ext cx="2743200" cy="402336"/>
          </a:xfrm>
          <a:prstGeom prst="rect">
            <a:avLst/>
          </a:prstGeom>
          <a:noFill/>
        </p:spPr>
        <p:txBody>
          <a:bodyPr wrap="square" anchor="ctr" lIns="0" rIns="0" tIns="0" bIns="0">
            <a:spAutoFit/>
          </a:bodyPr>
          <a:lstStyle/>
          <a:p>
            <a:pPr algn="l">
              <a:lnSpc>
                <a:spcPct val="100000"/>
              </a:lnSpc>
            </a:pPr>
            <a:r>
              <a:rPr sz="1400" b="1" i="0">
                <a:solidFill>
                  <a:srgbClr val="1F6FB2"/>
                </a:solidFill>
                <a:latin typeface="Calibri"/>
              </a:rPr>
              <a:t>How it gets home</a:t>
            </a:r>
          </a:p>
        </p:txBody>
      </p:sp>
      <p:sp>
        <p:nvSpPr>
          <p:cNvPr id="37" name="TextBox 36"/>
          <p:cNvSpPr txBox="1"/>
          <p:nvPr/>
        </p:nvSpPr>
        <p:spPr>
          <a:xfrm>
            <a:off x="3657600" y="5047488"/>
            <a:ext cx="7772400" cy="402336"/>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It remembers where the dock is and drives to a spot just in front of it.</a:t>
            </a:r>
          </a:p>
        </p:txBody>
      </p:sp>
      <p:sp>
        <p:nvSpPr>
          <p:cNvPr id="38" name="Rounded Rectangle 37"/>
          <p:cNvSpPr/>
          <p:nvPr/>
        </p:nvSpPr>
        <p:spPr>
          <a:xfrm>
            <a:off x="566928" y="5522976"/>
            <a:ext cx="11064240" cy="402336"/>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4672" y="5522976"/>
            <a:ext cx="2743200" cy="402336"/>
          </a:xfrm>
          <a:prstGeom prst="rect">
            <a:avLst/>
          </a:prstGeom>
          <a:noFill/>
        </p:spPr>
        <p:txBody>
          <a:bodyPr wrap="square" anchor="ctr" lIns="0" rIns="0" tIns="0" bIns="0">
            <a:spAutoFit/>
          </a:bodyPr>
          <a:lstStyle/>
          <a:p>
            <a:pPr algn="l">
              <a:lnSpc>
                <a:spcPct val="100000"/>
              </a:lnSpc>
            </a:pPr>
            <a:r>
              <a:rPr sz="1400" b="1" i="0">
                <a:solidFill>
                  <a:srgbClr val="1F6FB2"/>
                </a:solidFill>
                <a:latin typeface="Calibri"/>
              </a:rPr>
              <a:t>What 'done' means</a:t>
            </a:r>
          </a:p>
        </p:txBody>
      </p:sp>
      <p:sp>
        <p:nvSpPr>
          <p:cNvPr id="40" name="TextBox 39"/>
          <p:cNvSpPr txBox="1"/>
          <p:nvPr/>
        </p:nvSpPr>
        <p:spPr>
          <a:xfrm>
            <a:off x="3657600" y="5522976"/>
            <a:ext cx="7772400" cy="402336"/>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Battery back to 95% → it reverses out and carries on exactly where it left 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1 — It learns the room by driving</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Like feeling your way around a dark room with a torch</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4/16</a:t>
            </a:r>
          </a:p>
        </p:txBody>
      </p:sp>
      <p:sp>
        <p:nvSpPr>
          <p:cNvPr id="6" name="Rectangle 5"/>
          <p:cNvSpPr/>
          <p:nvPr/>
        </p:nvSpPr>
        <p:spPr>
          <a:xfrm>
            <a:off x="1051560" y="1417320"/>
            <a:ext cx="4663440" cy="3931920"/>
          </a:xfrm>
          <a:prstGeom prst="rect">
            <a:avLst/>
          </a:prstGeom>
          <a:solidFill>
            <a:srgbClr val="FFFFFF"/>
          </a:solidFill>
          <a:ln w="25400">
            <a:solidFill>
              <a:srgbClr val="142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383280" y="1920240"/>
            <a:ext cx="1874519" cy="777240"/>
          </a:xfrm>
          <a:prstGeom prst="rect">
            <a:avLst/>
          </a:prstGeom>
          <a:solidFill>
            <a:srgbClr val="DDE3EC"/>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920240"/>
            <a:ext cx="1874519" cy="777240"/>
          </a:xfrm>
          <a:prstGeom prst="rect">
            <a:avLst/>
          </a:prstGeom>
          <a:noFill/>
        </p:spPr>
        <p:txBody>
          <a:bodyPr wrap="square" anchor="ctr" lIns="0" rIns="0" tIns="0" bIns="0">
            <a:spAutoFit/>
          </a:bodyPr>
          <a:lstStyle/>
          <a:p>
            <a:pPr algn="ctr">
              <a:lnSpc>
                <a:spcPct val="100000"/>
              </a:lnSpc>
            </a:pPr>
            <a:r>
              <a:rPr sz="1100" b="0" i="0">
                <a:solidFill>
                  <a:srgbClr val="5A6472"/>
                </a:solidFill>
                <a:latin typeface="Calibri"/>
              </a:rPr>
              <a:t>sofa</a:t>
            </a:r>
          </a:p>
        </p:txBody>
      </p:sp>
      <p:sp>
        <p:nvSpPr>
          <p:cNvPr id="9" name="Rectangle 8"/>
          <p:cNvSpPr/>
          <p:nvPr/>
        </p:nvSpPr>
        <p:spPr>
          <a:xfrm>
            <a:off x="1828800" y="3291839"/>
            <a:ext cx="1005840" cy="685800"/>
          </a:xfrm>
          <a:prstGeom prst="rect">
            <a:avLst/>
          </a:prstGeom>
          <a:solidFill>
            <a:srgbClr val="DDE3EC"/>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3291839"/>
            <a:ext cx="1005840" cy="685800"/>
          </a:xfrm>
          <a:prstGeom prst="rect">
            <a:avLst/>
          </a:prstGeom>
          <a:noFill/>
        </p:spPr>
        <p:txBody>
          <a:bodyPr wrap="square" anchor="ctr" lIns="0" rIns="0" tIns="0" bIns="0">
            <a:spAutoFit/>
          </a:bodyPr>
          <a:lstStyle/>
          <a:p>
            <a:pPr algn="ctr">
              <a:lnSpc>
                <a:spcPct val="100000"/>
              </a:lnSpc>
            </a:pPr>
            <a:r>
              <a:rPr sz="1100" b="0" i="0">
                <a:solidFill>
                  <a:srgbClr val="5A6472"/>
                </a:solidFill>
                <a:latin typeface="Calibri"/>
              </a:rPr>
              <a:t>table</a:t>
            </a:r>
          </a:p>
        </p:txBody>
      </p:sp>
      <p:sp>
        <p:nvSpPr>
          <p:cNvPr id="11" name="Rectangle 10"/>
          <p:cNvSpPr/>
          <p:nvPr/>
        </p:nvSpPr>
        <p:spPr>
          <a:xfrm>
            <a:off x="4434840" y="4297680"/>
            <a:ext cx="777240" cy="685800"/>
          </a:xfrm>
          <a:prstGeom prst="rect">
            <a:avLst/>
          </a:prstGeom>
          <a:solidFill>
            <a:srgbClr val="DDE3EC"/>
          </a:solidFill>
          <a:ln w="15875">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4297680"/>
            <a:ext cx="777240" cy="685800"/>
          </a:xfrm>
          <a:prstGeom prst="rect">
            <a:avLst/>
          </a:prstGeom>
          <a:noFill/>
        </p:spPr>
        <p:txBody>
          <a:bodyPr wrap="square" anchor="ctr" lIns="0" rIns="0" tIns="0" bIns="0">
            <a:spAutoFit/>
          </a:bodyPr>
          <a:lstStyle/>
          <a:p>
            <a:pPr algn="ctr">
              <a:lnSpc>
                <a:spcPct val="100000"/>
              </a:lnSpc>
            </a:pPr>
            <a:r>
              <a:rPr sz="1100" b="0" i="0">
                <a:solidFill>
                  <a:srgbClr val="5A6472"/>
                </a:solidFill>
                <a:latin typeface="Calibri"/>
              </a:rPr>
              <a:t>crates</a:t>
            </a:r>
          </a:p>
        </p:txBody>
      </p:sp>
      <p:sp>
        <p:nvSpPr>
          <p:cNvPr id="13" name="Rectangle 12"/>
          <p:cNvSpPr/>
          <p:nvPr/>
        </p:nvSpPr>
        <p:spPr>
          <a:xfrm>
            <a:off x="2834640" y="1399032"/>
            <a:ext cx="1097280" cy="310896"/>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34640" y="1088136"/>
            <a:ext cx="1097280" cy="310896"/>
          </a:xfrm>
          <a:prstGeom prst="rect">
            <a:avLst/>
          </a:prstGeom>
          <a:noFill/>
        </p:spPr>
        <p:txBody>
          <a:bodyPr wrap="square" anchor="ctr" lIns="0" rIns="0" tIns="0" bIns="0">
            <a:spAutoFit/>
          </a:bodyPr>
          <a:lstStyle/>
          <a:p>
            <a:pPr algn="ctr">
              <a:lnSpc>
                <a:spcPct val="100000"/>
              </a:lnSpc>
            </a:pPr>
            <a:r>
              <a:rPr sz="1100" b="1" i="0">
                <a:solidFill>
                  <a:srgbClr val="178F54"/>
                </a:solidFill>
                <a:latin typeface="Calibri"/>
              </a:rPr>
              <a:t>charging dock</a:t>
            </a:r>
          </a:p>
        </p:txBody>
      </p:sp>
      <p:sp>
        <p:nvSpPr>
          <p:cNvPr id="15" name="Oval 14"/>
          <p:cNvSpPr/>
          <p:nvPr/>
        </p:nvSpPr>
        <p:spPr>
          <a:xfrm>
            <a:off x="3200400" y="4480560"/>
            <a:ext cx="384048" cy="38404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11520" y="5476278"/>
            <a:ext cx="91440" cy="91440"/>
          </a:xfrm>
          <a:prstGeom prst="ellipse">
            <a:avLst/>
          </a:prstGeom>
          <a:solidFill>
            <a:srgbClr val="8FC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711706" y="6090807"/>
            <a:ext cx="91440" cy="91440"/>
          </a:xfrm>
          <a:prstGeom prst="ellipse">
            <a:avLst/>
          </a:prstGeom>
          <a:solidFill>
            <a:srgbClr val="8FC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81701" y="6090807"/>
            <a:ext cx="91440" cy="91440"/>
          </a:xfrm>
          <a:prstGeom prst="ellipse">
            <a:avLst/>
          </a:prstGeom>
          <a:solidFill>
            <a:srgbClr val="8FC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81887" y="5476278"/>
            <a:ext cx="91440" cy="91440"/>
          </a:xfrm>
          <a:prstGeom prst="ellipse">
            <a:avLst/>
          </a:prstGeom>
          <a:solidFill>
            <a:srgbClr val="8FC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4005072"/>
            <a:ext cx="1463040" cy="365760"/>
          </a:xfrm>
          <a:prstGeom prst="rect">
            <a:avLst/>
          </a:prstGeom>
          <a:noFill/>
        </p:spPr>
        <p:txBody>
          <a:bodyPr wrap="square" anchor="ctr" lIns="0" rIns="0" tIns="0" bIns="0">
            <a:spAutoFit/>
          </a:bodyPr>
          <a:lstStyle/>
          <a:p>
            <a:pPr algn="l">
              <a:lnSpc>
                <a:spcPct val="100000"/>
              </a:lnSpc>
            </a:pPr>
            <a:r>
              <a:rPr sz="1100" b="1" i="0">
                <a:solidFill>
                  <a:srgbClr val="1F6FB2"/>
                </a:solidFill>
                <a:latin typeface="Calibri"/>
              </a:rPr>
              <a:t>robot's laser</a:t>
            </a:r>
          </a:p>
        </p:txBody>
      </p:sp>
      <p:sp>
        <p:nvSpPr>
          <p:cNvPr id="21" name="Rounded Rectangle 20"/>
          <p:cNvSpPr/>
          <p:nvPr/>
        </p:nvSpPr>
        <p:spPr>
          <a:xfrm>
            <a:off x="6172200" y="1481328"/>
            <a:ext cx="5458968" cy="1207008"/>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1481328"/>
            <a:ext cx="68580" cy="120700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1627632"/>
            <a:ext cx="500176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1.  Spinning laser</a:t>
            </a:r>
          </a:p>
        </p:txBody>
      </p:sp>
      <p:sp>
        <p:nvSpPr>
          <p:cNvPr id="24" name="TextBox 23"/>
          <p:cNvSpPr txBox="1"/>
          <p:nvPr/>
        </p:nvSpPr>
        <p:spPr>
          <a:xfrm>
            <a:off x="6409944" y="2139696"/>
            <a:ext cx="5001768" cy="420624"/>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The robot has a laser that measures distance to everything around it, 360 degrees.</a:t>
            </a:r>
          </a:p>
        </p:txBody>
      </p:sp>
      <p:sp>
        <p:nvSpPr>
          <p:cNvPr id="25" name="Rounded Rectangle 24"/>
          <p:cNvSpPr/>
          <p:nvPr/>
        </p:nvSpPr>
        <p:spPr>
          <a:xfrm>
            <a:off x="6172200" y="2834640"/>
            <a:ext cx="5458968" cy="1207008"/>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2834640"/>
            <a:ext cx="68580" cy="120700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2980944"/>
            <a:ext cx="500176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2.  Map grows as it drives</a:t>
            </a:r>
          </a:p>
        </p:txBody>
      </p:sp>
      <p:sp>
        <p:nvSpPr>
          <p:cNvPr id="28" name="TextBox 27"/>
          <p:cNvSpPr txBox="1"/>
          <p:nvPr/>
        </p:nvSpPr>
        <p:spPr>
          <a:xfrm>
            <a:off x="6409944" y="3493008"/>
            <a:ext cx="5001768" cy="420624"/>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Every new reading is stitched onto the map. Unknown areas fill in over time.</a:t>
            </a:r>
          </a:p>
        </p:txBody>
      </p:sp>
      <p:sp>
        <p:nvSpPr>
          <p:cNvPr id="29" name="Rounded Rectangle 28"/>
          <p:cNvSpPr/>
          <p:nvPr/>
        </p:nvSpPr>
        <p:spPr>
          <a:xfrm>
            <a:off x="6172200" y="4187952"/>
            <a:ext cx="5458968" cy="1207008"/>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4187952"/>
            <a:ext cx="68580" cy="1207008"/>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4334256"/>
            <a:ext cx="500176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3.  It knows where it is</a:t>
            </a:r>
          </a:p>
        </p:txBody>
      </p:sp>
      <p:sp>
        <p:nvSpPr>
          <p:cNvPr id="32" name="TextBox 31"/>
          <p:cNvSpPr txBox="1"/>
          <p:nvPr/>
        </p:nvSpPr>
        <p:spPr>
          <a:xfrm>
            <a:off x="6409944" y="4846320"/>
            <a:ext cx="5001768" cy="420624"/>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By comparing readings to the map it always knows its own position.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2 — It plans a 'lawnmower' route</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The trick that guarantees no spot is missed</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5/16</a:t>
            </a:r>
          </a:p>
        </p:txBody>
      </p:sp>
      <p:sp>
        <p:nvSpPr>
          <p:cNvPr id="6" name="Rounded Rectangle 5"/>
          <p:cNvSpPr/>
          <p:nvPr/>
        </p:nvSpPr>
        <p:spPr>
          <a:xfrm>
            <a:off x="566928" y="1325880"/>
            <a:ext cx="6309360" cy="4206240"/>
          </a:xfrm>
          <a:prstGeom prst="roundRect">
            <a:avLst>
              <a:gd name="adj" fmla="val 12000"/>
            </a:avLst>
          </a:prstGeom>
          <a:solidFill>
            <a:srgbClr val="F2F5F9"/>
          </a:solidFill>
          <a:ln w="15875">
            <a:solidFill>
              <a:srgbClr val="C5D2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89888"/>
            <a:ext cx="6309360" cy="320040"/>
          </a:xfrm>
          <a:prstGeom prst="rect">
            <a:avLst/>
          </a:prstGeom>
          <a:noFill/>
        </p:spPr>
        <p:txBody>
          <a:bodyPr wrap="square" anchor="ctr" lIns="0" rIns="0" tIns="0" bIns="0">
            <a:spAutoFit/>
          </a:bodyPr>
          <a:lstStyle/>
          <a:p>
            <a:pPr algn="ctr">
              <a:lnSpc>
                <a:spcPct val="100000"/>
              </a:lnSpc>
            </a:pPr>
            <a:r>
              <a:rPr sz="1200" b="0" i="1">
                <a:solidFill>
                  <a:srgbClr val="5A6472"/>
                </a:solidFill>
                <a:latin typeface="Calibri"/>
              </a:rPr>
              <a:t>one goal at the end of each strip</a:t>
            </a:r>
          </a:p>
        </p:txBody>
      </p:sp>
      <p:sp>
        <p:nvSpPr>
          <p:cNvPr id="8" name="Rectangle 7"/>
          <p:cNvSpPr/>
          <p:nvPr/>
        </p:nvSpPr>
        <p:spPr>
          <a:xfrm>
            <a:off x="868680" y="1874519"/>
            <a:ext cx="5669280" cy="3383280"/>
          </a:xfrm>
          <a:prstGeom prst="rect">
            <a:avLst/>
          </a:prstGeom>
          <a:solidFill>
            <a:srgbClr val="FFFFFF"/>
          </a:solidFill>
          <a:ln w="25400">
            <a:solidFill>
              <a:srgbClr val="142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eft-Right Arrow 8"/>
          <p:cNvSpPr/>
          <p:nvPr/>
        </p:nvSpPr>
        <p:spPr>
          <a:xfrm>
            <a:off x="1005840" y="1842515"/>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126480" y="1874519"/>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Right Arrow 10"/>
          <p:cNvSpPr/>
          <p:nvPr/>
        </p:nvSpPr>
        <p:spPr>
          <a:xfrm>
            <a:off x="6400800" y="1842515"/>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0528" y="1874518"/>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eft-Right Arrow 12"/>
          <p:cNvSpPr/>
          <p:nvPr/>
        </p:nvSpPr>
        <p:spPr>
          <a:xfrm>
            <a:off x="1005840" y="1842516"/>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126480" y="1874520"/>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eft-Right Arrow 14"/>
          <p:cNvSpPr/>
          <p:nvPr/>
        </p:nvSpPr>
        <p:spPr>
          <a:xfrm>
            <a:off x="6400800" y="1842516"/>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510528" y="1874519"/>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eft-Right Arrow 16"/>
          <p:cNvSpPr/>
          <p:nvPr/>
        </p:nvSpPr>
        <p:spPr>
          <a:xfrm>
            <a:off x="1005840" y="1842517"/>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80" y="1874521"/>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eft-Right Arrow 18"/>
          <p:cNvSpPr/>
          <p:nvPr/>
        </p:nvSpPr>
        <p:spPr>
          <a:xfrm>
            <a:off x="6400800" y="1842517"/>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10528" y="1874520"/>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eft-Right Arrow 20"/>
          <p:cNvSpPr/>
          <p:nvPr/>
        </p:nvSpPr>
        <p:spPr>
          <a:xfrm>
            <a:off x="1005840" y="1842518"/>
            <a:ext cx="5394960" cy="64008"/>
          </a:xfrm>
          <a:prstGeom prst="leftRightArrow">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126480" y="1874522"/>
            <a:ext cx="173736" cy="173736"/>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230368"/>
            <a:ext cx="6309360" cy="365760"/>
          </a:xfrm>
          <a:prstGeom prst="rect">
            <a:avLst/>
          </a:prstGeom>
          <a:noFill/>
        </p:spPr>
        <p:txBody>
          <a:bodyPr wrap="square" anchor="ctr" lIns="0" rIns="0" tIns="0" bIns="0">
            <a:spAutoFit/>
          </a:bodyPr>
          <a:lstStyle/>
          <a:p>
            <a:pPr algn="ctr">
              <a:lnSpc>
                <a:spcPct val="100000"/>
              </a:lnSpc>
            </a:pPr>
            <a:r>
              <a:rPr sz="1200" b="1" i="0">
                <a:solidFill>
                  <a:srgbClr val="178F54"/>
                </a:solidFill>
                <a:latin typeface="Calibri"/>
              </a:rPr>
              <a:t>green dots = the 'go there' points the robot is given</a:t>
            </a:r>
          </a:p>
        </p:txBody>
      </p:sp>
      <p:sp>
        <p:nvSpPr>
          <p:cNvPr id="24" name="Rounded Rectangle 23"/>
          <p:cNvSpPr/>
          <p:nvPr/>
        </p:nvSpPr>
        <p:spPr>
          <a:xfrm>
            <a:off x="7059168" y="1481328"/>
            <a:ext cx="4572000" cy="100584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59168" y="1481328"/>
            <a:ext cx="68580" cy="10058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96912" y="1627632"/>
            <a:ext cx="4114800" cy="365760"/>
          </a:xfrm>
          <a:prstGeom prst="rect">
            <a:avLst/>
          </a:prstGeom>
          <a:noFill/>
        </p:spPr>
        <p:txBody>
          <a:bodyPr wrap="square" anchor="t" lIns="0" rIns="0" tIns="0" bIns="0">
            <a:spAutoFit/>
          </a:bodyPr>
          <a:lstStyle/>
          <a:p>
            <a:pPr algn="l">
              <a:lnSpc>
                <a:spcPct val="100000"/>
              </a:lnSpc>
            </a:pPr>
            <a:r>
              <a:rPr sz="1400" b="1" i="0">
                <a:solidFill>
                  <a:srgbClr val="178F54"/>
                </a:solidFill>
                <a:latin typeface="Calibri"/>
              </a:rPr>
              <a:t>1.  Cover in strips</a:t>
            </a:r>
          </a:p>
        </p:txBody>
      </p:sp>
      <p:sp>
        <p:nvSpPr>
          <p:cNvPr id="27" name="TextBox 26"/>
          <p:cNvSpPr txBox="1"/>
          <p:nvPr/>
        </p:nvSpPr>
        <p:spPr>
          <a:xfrm>
            <a:off x="7296912" y="2139696"/>
            <a:ext cx="4114800" cy="219456"/>
          </a:xfrm>
          <a:prstGeom prst="rect">
            <a:avLst/>
          </a:prstGeom>
          <a:noFill/>
        </p:spPr>
        <p:txBody>
          <a:bodyPr wrap="square" anchor="t" lIns="0" rIns="0" tIns="0" bIns="0">
            <a:spAutoFit/>
          </a:bodyPr>
          <a:lstStyle/>
          <a:p>
            <a:pPr algn="l">
              <a:lnSpc>
                <a:spcPct val="105000"/>
              </a:lnSpc>
            </a:pPr>
            <a:r>
              <a:rPr sz="1150" b="0" i="0">
                <a:solidFill>
                  <a:srgbClr val="333D49"/>
                </a:solidFill>
                <a:latin typeface="Calibri"/>
              </a:rPr>
              <a:t>Parallel rows 45 cm apart. The robot fills each strip, like mowing a lawn.</a:t>
            </a:r>
          </a:p>
        </p:txBody>
      </p:sp>
      <p:sp>
        <p:nvSpPr>
          <p:cNvPr id="28" name="Rounded Rectangle 27"/>
          <p:cNvSpPr/>
          <p:nvPr/>
        </p:nvSpPr>
        <p:spPr>
          <a:xfrm>
            <a:off x="7059168" y="2578608"/>
            <a:ext cx="4572000" cy="100584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059168" y="2578608"/>
            <a:ext cx="68580" cy="10058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96912" y="2724912"/>
            <a:ext cx="4114800" cy="365760"/>
          </a:xfrm>
          <a:prstGeom prst="rect">
            <a:avLst/>
          </a:prstGeom>
          <a:noFill/>
        </p:spPr>
        <p:txBody>
          <a:bodyPr wrap="square" anchor="t" lIns="0" rIns="0" tIns="0" bIns="0">
            <a:spAutoFit/>
          </a:bodyPr>
          <a:lstStyle/>
          <a:p>
            <a:pPr algn="l">
              <a:lnSpc>
                <a:spcPct val="100000"/>
              </a:lnSpc>
            </a:pPr>
            <a:r>
              <a:rPr sz="1400" b="1" i="0">
                <a:solidFill>
                  <a:srgbClr val="178F54"/>
                </a:solidFill>
                <a:latin typeface="Calibri"/>
              </a:rPr>
              <a:t>2.  Alternate direction</a:t>
            </a:r>
          </a:p>
        </p:txBody>
      </p:sp>
      <p:sp>
        <p:nvSpPr>
          <p:cNvPr id="31" name="TextBox 30"/>
          <p:cNvSpPr txBox="1"/>
          <p:nvPr/>
        </p:nvSpPr>
        <p:spPr>
          <a:xfrm>
            <a:off x="7296912" y="3236976"/>
            <a:ext cx="4114800" cy="219456"/>
          </a:xfrm>
          <a:prstGeom prst="rect">
            <a:avLst/>
          </a:prstGeom>
          <a:noFill/>
        </p:spPr>
        <p:txBody>
          <a:bodyPr wrap="square" anchor="t" lIns="0" rIns="0" tIns="0" bIns="0">
            <a:spAutoFit/>
          </a:bodyPr>
          <a:lstStyle/>
          <a:p>
            <a:pPr algn="l">
              <a:lnSpc>
                <a:spcPct val="105000"/>
              </a:lnSpc>
            </a:pPr>
            <a:r>
              <a:rPr sz="1150" b="0" i="0">
                <a:solidFill>
                  <a:srgbClr val="333D49"/>
                </a:solidFill>
                <a:latin typeface="Calibri"/>
              </a:rPr>
              <a:t>It turns around at the end of every second strip — no wasted 180° spins.</a:t>
            </a:r>
          </a:p>
        </p:txBody>
      </p:sp>
      <p:sp>
        <p:nvSpPr>
          <p:cNvPr id="32" name="Rounded Rectangle 31"/>
          <p:cNvSpPr/>
          <p:nvPr/>
        </p:nvSpPr>
        <p:spPr>
          <a:xfrm>
            <a:off x="7059168" y="3675888"/>
            <a:ext cx="4572000" cy="100584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59168" y="3675888"/>
            <a:ext cx="68580" cy="10058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96912" y="3822192"/>
            <a:ext cx="4114800" cy="365760"/>
          </a:xfrm>
          <a:prstGeom prst="rect">
            <a:avLst/>
          </a:prstGeom>
          <a:noFill/>
        </p:spPr>
        <p:txBody>
          <a:bodyPr wrap="square" anchor="t" lIns="0" rIns="0" tIns="0" bIns="0">
            <a:spAutoFit/>
          </a:bodyPr>
          <a:lstStyle/>
          <a:p>
            <a:pPr algn="l">
              <a:lnSpc>
                <a:spcPct val="100000"/>
              </a:lnSpc>
            </a:pPr>
            <a:r>
              <a:rPr sz="1400" b="1" i="0">
                <a:solidFill>
                  <a:srgbClr val="178F54"/>
                </a:solidFill>
                <a:latin typeface="Calibri"/>
              </a:rPr>
              <a:t>3.  Check before going</a:t>
            </a:r>
          </a:p>
        </p:txBody>
      </p:sp>
      <p:sp>
        <p:nvSpPr>
          <p:cNvPr id="35" name="TextBox 34"/>
          <p:cNvSpPr txBox="1"/>
          <p:nvPr/>
        </p:nvSpPr>
        <p:spPr>
          <a:xfrm>
            <a:off x="7296912" y="4334256"/>
            <a:ext cx="4114800" cy="219456"/>
          </a:xfrm>
          <a:prstGeom prst="rect">
            <a:avLst/>
          </a:prstGeom>
          <a:noFill/>
        </p:spPr>
        <p:txBody>
          <a:bodyPr wrap="square" anchor="t" lIns="0" rIns="0" tIns="0" bIns="0">
            <a:spAutoFit/>
          </a:bodyPr>
          <a:lstStyle/>
          <a:p>
            <a:pPr algn="l">
              <a:lnSpc>
                <a:spcPct val="105000"/>
              </a:lnSpc>
            </a:pPr>
            <a:r>
              <a:rPr sz="1150" b="0" i="0">
                <a:solidFill>
                  <a:srgbClr val="333D49"/>
                </a:solidFill>
                <a:latin typeface="Calibri"/>
              </a:rPr>
              <a:t>Just before driving to a point, it re-checks the latest map. Blocked? It slides 2 m sideways.</a:t>
            </a:r>
          </a:p>
        </p:txBody>
      </p:sp>
      <p:sp>
        <p:nvSpPr>
          <p:cNvPr id="36" name="Rounded Rectangle 35"/>
          <p:cNvSpPr/>
          <p:nvPr/>
        </p:nvSpPr>
        <p:spPr>
          <a:xfrm>
            <a:off x="7059168" y="4773168"/>
            <a:ext cx="4572000" cy="100584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59168" y="4773168"/>
            <a:ext cx="68580" cy="10058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96912" y="4919472"/>
            <a:ext cx="4114800" cy="365760"/>
          </a:xfrm>
          <a:prstGeom prst="rect">
            <a:avLst/>
          </a:prstGeom>
          <a:noFill/>
        </p:spPr>
        <p:txBody>
          <a:bodyPr wrap="square" anchor="t" lIns="0" rIns="0" tIns="0" bIns="0">
            <a:spAutoFit/>
          </a:bodyPr>
          <a:lstStyle/>
          <a:p>
            <a:pPr algn="l">
              <a:lnSpc>
                <a:spcPct val="100000"/>
              </a:lnSpc>
            </a:pPr>
            <a:r>
              <a:rPr sz="1400" b="1" i="0">
                <a:solidFill>
                  <a:srgbClr val="178F54"/>
                </a:solidFill>
                <a:latin typeface="Calibri"/>
              </a:rPr>
              <a:t>4.  Skip the furniture</a:t>
            </a:r>
          </a:p>
        </p:txBody>
      </p:sp>
      <p:sp>
        <p:nvSpPr>
          <p:cNvPr id="39" name="TextBox 38"/>
          <p:cNvSpPr txBox="1"/>
          <p:nvPr/>
        </p:nvSpPr>
        <p:spPr>
          <a:xfrm>
            <a:off x="7296912" y="5431536"/>
            <a:ext cx="4114800" cy="219456"/>
          </a:xfrm>
          <a:prstGeom prst="rect">
            <a:avLst/>
          </a:prstGeom>
          <a:noFill/>
        </p:spPr>
        <p:txBody>
          <a:bodyPr wrap="square" anchor="t" lIns="0" rIns="0" tIns="0" bIns="0">
            <a:spAutoFit/>
          </a:bodyPr>
          <a:lstStyle/>
          <a:p>
            <a:pPr algn="l">
              <a:lnSpc>
                <a:spcPct val="105000"/>
              </a:lnSpc>
            </a:pPr>
            <a:r>
              <a:rPr sz="1150" b="0" i="0">
                <a:solidFill>
                  <a:srgbClr val="333D49"/>
                </a:solidFill>
                <a:latin typeface="Calibri"/>
              </a:rPr>
              <a:t>Known furniture is simply banned as a destination — the robot never aims at the sofa.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2b — How it actually drives there</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Two brains: one for the big picture, one for the steering wheel</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6/16</a:t>
            </a:r>
          </a:p>
        </p:txBody>
      </p:sp>
      <p:sp>
        <p:nvSpPr>
          <p:cNvPr id="6" name="Rounded Rectangle 5"/>
          <p:cNvSpPr/>
          <p:nvPr/>
        </p:nvSpPr>
        <p:spPr>
          <a:xfrm>
            <a:off x="566928" y="1325880"/>
            <a:ext cx="5394960" cy="187451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25880"/>
            <a:ext cx="68580" cy="1874519"/>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81328"/>
            <a:ext cx="4937760" cy="365760"/>
          </a:xfrm>
          <a:prstGeom prst="rect">
            <a:avLst/>
          </a:prstGeom>
          <a:noFill/>
        </p:spPr>
        <p:txBody>
          <a:bodyPr wrap="square" anchor="ctr" lIns="0" rIns="0" tIns="0" bIns="0">
            <a:spAutoFit/>
          </a:bodyPr>
          <a:lstStyle/>
          <a:p>
            <a:pPr algn="l">
              <a:lnSpc>
                <a:spcPct val="100000"/>
              </a:lnSpc>
            </a:pPr>
            <a:r>
              <a:rPr sz="1800" b="1" i="0">
                <a:solidFill>
                  <a:srgbClr val="1F6FB2"/>
                </a:solidFill>
                <a:latin typeface="Calibri"/>
              </a:rPr>
              <a:t>Brain 1 — the navigator</a:t>
            </a:r>
          </a:p>
        </p:txBody>
      </p:sp>
      <p:sp>
        <p:nvSpPr>
          <p:cNvPr id="9" name="TextBox 8"/>
          <p:cNvSpPr txBox="1"/>
          <p:nvPr/>
        </p:nvSpPr>
        <p:spPr>
          <a:xfrm>
            <a:off x="868680" y="1920240"/>
            <a:ext cx="4937760" cy="114300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Works out the shortest sensible path from here to the next green dot, going around walls and furniture. Re-plans if something new appears.</a:t>
            </a:r>
          </a:p>
        </p:txBody>
      </p:sp>
      <p:sp>
        <p:nvSpPr>
          <p:cNvPr id="10" name="Rounded Rectangle 9"/>
          <p:cNvSpPr/>
          <p:nvPr/>
        </p:nvSpPr>
        <p:spPr>
          <a:xfrm>
            <a:off x="6236208" y="1325880"/>
            <a:ext cx="5394960" cy="187451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8" y="1325880"/>
            <a:ext cx="68580" cy="1874519"/>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481328"/>
            <a:ext cx="4937760" cy="365760"/>
          </a:xfrm>
          <a:prstGeom prst="rect">
            <a:avLst/>
          </a:prstGeom>
          <a:noFill/>
        </p:spPr>
        <p:txBody>
          <a:bodyPr wrap="square" anchor="ctr" lIns="0" rIns="0" tIns="0" bIns="0">
            <a:spAutoFit/>
          </a:bodyPr>
          <a:lstStyle/>
          <a:p>
            <a:pPr algn="l">
              <a:lnSpc>
                <a:spcPct val="100000"/>
              </a:lnSpc>
            </a:pPr>
            <a:r>
              <a:rPr sz="1800" b="1" i="0">
                <a:solidFill>
                  <a:srgbClr val="178F54"/>
                </a:solidFill>
                <a:latin typeface="Calibri"/>
              </a:rPr>
              <a:t>Brain 2 — the driver</a:t>
            </a:r>
          </a:p>
        </p:txBody>
      </p:sp>
      <p:sp>
        <p:nvSpPr>
          <p:cNvPr id="13" name="TextBox 12"/>
          <p:cNvSpPr txBox="1"/>
          <p:nvPr/>
        </p:nvSpPr>
        <p:spPr>
          <a:xfrm>
            <a:off x="6537960" y="1920240"/>
            <a:ext cx="4937760" cy="114300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At 20 times a second it imagines 600 possible ways to move in the next 3 seconds, picks the safest one, and applies the wheel and pedals gently.</a:t>
            </a:r>
          </a:p>
        </p:txBody>
      </p:sp>
      <p:sp>
        <p:nvSpPr>
          <p:cNvPr id="14" name="TextBox 13"/>
          <p:cNvSpPr txBox="1"/>
          <p:nvPr/>
        </p:nvSpPr>
        <p:spPr>
          <a:xfrm>
            <a:off x="566928" y="3401568"/>
            <a:ext cx="11064240" cy="365760"/>
          </a:xfrm>
          <a:prstGeom prst="rect">
            <a:avLst/>
          </a:prstGeom>
          <a:noFill/>
        </p:spPr>
        <p:txBody>
          <a:bodyPr wrap="square" anchor="ctr" lIns="0" rIns="0" tIns="0" bIns="0">
            <a:spAutoFit/>
          </a:bodyPr>
          <a:lstStyle/>
          <a:p>
            <a:pPr algn="l">
              <a:lnSpc>
                <a:spcPct val="100000"/>
              </a:lnSpc>
            </a:pPr>
            <a:r>
              <a:rPr sz="1500" b="1" i="0">
                <a:solidFill>
                  <a:srgbClr val="142B50"/>
                </a:solidFill>
                <a:latin typeface="Calibri"/>
              </a:rPr>
              <a:t>Every command then passes through the same safety gate:</a:t>
            </a:r>
          </a:p>
        </p:txBody>
      </p:sp>
      <p:sp>
        <p:nvSpPr>
          <p:cNvPr id="15" name="Rounded Rectangle 14"/>
          <p:cNvSpPr/>
          <p:nvPr/>
        </p:nvSpPr>
        <p:spPr>
          <a:xfrm>
            <a:off x="640080" y="3931920"/>
            <a:ext cx="2084831" cy="868680"/>
          </a:xfrm>
          <a:prstGeom prst="roundRect">
            <a:avLst>
              <a:gd name="adj" fmla="val 12000"/>
            </a:avLst>
          </a:prstGeom>
          <a:solidFill>
            <a:srgbClr val="F2F5F9"/>
          </a:solidFill>
          <a:ln w="1905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931920"/>
            <a:ext cx="1938527" cy="868680"/>
          </a:xfrm>
          <a:prstGeom prst="rect">
            <a:avLst/>
          </a:prstGeom>
          <a:noFill/>
        </p:spPr>
        <p:txBody>
          <a:bodyPr wrap="square" anchor="ctr" lIns="0" rIns="0" tIns="0" bIns="0">
            <a:spAutoFit/>
          </a:bodyPr>
          <a:lstStyle/>
          <a:p>
            <a:pPr algn="ctr">
              <a:lnSpc>
                <a:spcPct val="100000"/>
              </a:lnSpc>
            </a:pPr>
            <a:r>
              <a:rPr sz="1300" b="1" i="0">
                <a:solidFill>
                  <a:srgbClr val="1F6FB2"/>
                </a:solidFill>
                <a:latin typeface="Calibri"/>
              </a:rPr>
              <a:t>Navigator picks path</a:t>
            </a:r>
          </a:p>
        </p:txBody>
      </p:sp>
      <p:sp>
        <p:nvSpPr>
          <p:cNvPr id="17" name="Right Arrow 16"/>
          <p:cNvSpPr/>
          <p:nvPr/>
        </p:nvSpPr>
        <p:spPr>
          <a:xfrm>
            <a:off x="2743199" y="4261104"/>
            <a:ext cx="201168" cy="219456"/>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980943" y="3931920"/>
            <a:ext cx="2084831" cy="868680"/>
          </a:xfrm>
          <a:prstGeom prst="roundRect">
            <a:avLst>
              <a:gd name="adj" fmla="val 12000"/>
            </a:avLst>
          </a:prstGeom>
          <a:solidFill>
            <a:srgbClr val="F2F5F9"/>
          </a:solidFill>
          <a:ln w="19050">
            <a:solidFill>
              <a:srgbClr val="1F6F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54095" y="3931920"/>
            <a:ext cx="1938527" cy="868680"/>
          </a:xfrm>
          <a:prstGeom prst="rect">
            <a:avLst/>
          </a:prstGeom>
          <a:noFill/>
        </p:spPr>
        <p:txBody>
          <a:bodyPr wrap="square" anchor="ctr" lIns="0" rIns="0" tIns="0" bIns="0">
            <a:spAutoFit/>
          </a:bodyPr>
          <a:lstStyle/>
          <a:p>
            <a:pPr algn="ctr">
              <a:lnSpc>
                <a:spcPct val="100000"/>
              </a:lnSpc>
            </a:pPr>
            <a:r>
              <a:rPr sz="1300" b="1" i="0">
                <a:solidFill>
                  <a:srgbClr val="1F6FB2"/>
                </a:solidFill>
                <a:latin typeface="Calibri"/>
              </a:rPr>
              <a:t>Driver steers</a:t>
            </a:r>
          </a:p>
        </p:txBody>
      </p:sp>
      <p:sp>
        <p:nvSpPr>
          <p:cNvPr id="20" name="Right Arrow 19"/>
          <p:cNvSpPr/>
          <p:nvPr/>
        </p:nvSpPr>
        <p:spPr>
          <a:xfrm>
            <a:off x="5084062" y="4261104"/>
            <a:ext cx="201168" cy="219456"/>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21806" y="3931920"/>
            <a:ext cx="2084831" cy="868680"/>
          </a:xfrm>
          <a:prstGeom prst="roundRect">
            <a:avLst>
              <a:gd name="adj" fmla="val 12000"/>
            </a:avLst>
          </a:prstGeom>
          <a:solidFill>
            <a:srgbClr val="F2F5F9"/>
          </a:solidFill>
          <a:ln w="19050">
            <a:solidFill>
              <a:srgbClr val="178F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94958" y="3931920"/>
            <a:ext cx="1938527" cy="868680"/>
          </a:xfrm>
          <a:prstGeom prst="rect">
            <a:avLst/>
          </a:prstGeom>
          <a:noFill/>
        </p:spPr>
        <p:txBody>
          <a:bodyPr wrap="square" anchor="ctr" lIns="0" rIns="0" tIns="0" bIns="0">
            <a:spAutoFit/>
          </a:bodyPr>
          <a:lstStyle/>
          <a:p>
            <a:pPr algn="ctr">
              <a:lnSpc>
                <a:spcPct val="100000"/>
              </a:lnSpc>
            </a:pPr>
            <a:r>
              <a:rPr sz="1300" b="1" i="0">
                <a:solidFill>
                  <a:srgbClr val="178F54"/>
                </a:solidFill>
                <a:latin typeface="Calibri"/>
              </a:rPr>
              <a:t>Smoothing (no jerks)</a:t>
            </a:r>
          </a:p>
        </p:txBody>
      </p:sp>
      <p:sp>
        <p:nvSpPr>
          <p:cNvPr id="23" name="Right Arrow 22"/>
          <p:cNvSpPr/>
          <p:nvPr/>
        </p:nvSpPr>
        <p:spPr>
          <a:xfrm>
            <a:off x="7424925" y="4261104"/>
            <a:ext cx="201168" cy="219456"/>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62669" y="3931920"/>
            <a:ext cx="2084831" cy="868680"/>
          </a:xfrm>
          <a:prstGeom prst="roundRect">
            <a:avLst>
              <a:gd name="adj" fmla="val 12000"/>
            </a:avLst>
          </a:prstGeom>
          <a:solidFill>
            <a:srgbClr val="F2F5F9"/>
          </a:solidFill>
          <a:ln w="19050">
            <a:solidFill>
              <a:srgbClr val="E07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35821" y="3931920"/>
            <a:ext cx="1938527" cy="868680"/>
          </a:xfrm>
          <a:prstGeom prst="rect">
            <a:avLst/>
          </a:prstGeom>
          <a:noFill/>
        </p:spPr>
        <p:txBody>
          <a:bodyPr wrap="square" anchor="ctr" lIns="0" rIns="0" tIns="0" bIns="0">
            <a:spAutoFit/>
          </a:bodyPr>
          <a:lstStyle/>
          <a:p>
            <a:pPr algn="ctr">
              <a:lnSpc>
                <a:spcPct val="100000"/>
              </a:lnSpc>
            </a:pPr>
            <a:r>
              <a:rPr sz="1300" b="1" i="0">
                <a:solidFill>
                  <a:srgbClr val="E07B1B"/>
                </a:solidFill>
                <a:latin typeface="Calibri"/>
              </a:rPr>
              <a:t>Safety gate (slow near walls)</a:t>
            </a:r>
          </a:p>
        </p:txBody>
      </p:sp>
      <p:sp>
        <p:nvSpPr>
          <p:cNvPr id="26" name="Right Arrow 25"/>
          <p:cNvSpPr/>
          <p:nvPr/>
        </p:nvSpPr>
        <p:spPr>
          <a:xfrm>
            <a:off x="9765788" y="4261104"/>
            <a:ext cx="201168" cy="219456"/>
          </a:xfrm>
          <a:prstGeom prst="rightArrow">
            <a:avLst/>
          </a:prstGeom>
          <a:solidFill>
            <a:srgbClr val="9FB4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003532" y="3931920"/>
            <a:ext cx="2084831" cy="868680"/>
          </a:xfrm>
          <a:prstGeom prst="roundRect">
            <a:avLst>
              <a:gd name="adj" fmla="val 12000"/>
            </a:avLst>
          </a:prstGeom>
          <a:solidFill>
            <a:srgbClr val="F2F5F9"/>
          </a:solidFill>
          <a:ln w="19050">
            <a:solidFill>
              <a:srgbClr val="178F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76684" y="3931920"/>
            <a:ext cx="1938527" cy="868680"/>
          </a:xfrm>
          <a:prstGeom prst="rect">
            <a:avLst/>
          </a:prstGeom>
          <a:noFill/>
        </p:spPr>
        <p:txBody>
          <a:bodyPr wrap="square" anchor="ctr" lIns="0" rIns="0" tIns="0" bIns="0">
            <a:spAutoFit/>
          </a:bodyPr>
          <a:lstStyle/>
          <a:p>
            <a:pPr algn="ctr">
              <a:lnSpc>
                <a:spcPct val="100000"/>
              </a:lnSpc>
            </a:pPr>
            <a:r>
              <a:rPr sz="1300" b="1" i="0">
                <a:solidFill>
                  <a:srgbClr val="178F54"/>
                </a:solidFill>
                <a:latin typeface="Calibri"/>
              </a:rPr>
              <a:t>Robot moves</a:t>
            </a:r>
          </a:p>
        </p:txBody>
      </p:sp>
      <p:sp>
        <p:nvSpPr>
          <p:cNvPr id="29" name="Rounded Rectangle 28"/>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If any single link in that chain goes quiet, the robot notices within seconds and fixes it instead of sitting there.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3 — It notices it is tired</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A simulated fuel gauge the robot checks constantly</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7/16</a:t>
            </a:r>
          </a:p>
        </p:txBody>
      </p:sp>
      <p:sp>
        <p:nvSpPr>
          <p:cNvPr id="6" name="Rounded Rectangle 5"/>
          <p:cNvSpPr/>
          <p:nvPr/>
        </p:nvSpPr>
        <p:spPr>
          <a:xfrm>
            <a:off x="777240" y="1600200"/>
            <a:ext cx="10607040" cy="868680"/>
          </a:xfrm>
          <a:prstGeom prst="roundRect">
            <a:avLst>
              <a:gd name="adj" fmla="val 12000"/>
            </a:avLst>
          </a:prstGeom>
          <a:solidFill>
            <a:srgbClr val="E6EBF2"/>
          </a:solidFill>
          <a:ln w="19050">
            <a:solidFill>
              <a:srgbClr val="5A64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691640"/>
            <a:ext cx="5120640" cy="685800"/>
          </a:xfrm>
          <a:prstGeom prst="roundRect">
            <a:avLst>
              <a:gd name="adj" fmla="val 12000"/>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89320" y="1691640"/>
            <a:ext cx="2103120" cy="685800"/>
          </a:xfrm>
          <a:prstGeom prst="roundRect">
            <a:avLst>
              <a:gd name="adj" fmla="val 12000"/>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92440" y="1691640"/>
            <a:ext cx="3200400" cy="685800"/>
          </a:xfrm>
          <a:prstGeom prst="roundRect">
            <a:avLst>
              <a:gd name="adj" fmla="val 1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91640"/>
            <a:ext cx="5120640" cy="685800"/>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100% → 40%   keep cleaning</a:t>
            </a:r>
          </a:p>
        </p:txBody>
      </p:sp>
      <p:sp>
        <p:nvSpPr>
          <p:cNvPr id="11" name="TextBox 10"/>
          <p:cNvSpPr txBox="1"/>
          <p:nvPr/>
        </p:nvSpPr>
        <p:spPr>
          <a:xfrm>
            <a:off x="5989320" y="1691640"/>
            <a:ext cx="2103120" cy="685800"/>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40%</a:t>
            </a:r>
          </a:p>
        </p:txBody>
      </p:sp>
      <p:sp>
        <p:nvSpPr>
          <p:cNvPr id="12" name="TextBox 11"/>
          <p:cNvSpPr txBox="1"/>
          <p:nvPr/>
        </p:nvSpPr>
        <p:spPr>
          <a:xfrm>
            <a:off x="8092440" y="1691640"/>
            <a:ext cx="3200400" cy="68580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go home → 1% = emergency stop</a:t>
            </a:r>
          </a:p>
        </p:txBody>
      </p:sp>
      <p:sp>
        <p:nvSpPr>
          <p:cNvPr id="13" name="Rounded Rectangle 12"/>
          <p:cNvSpPr/>
          <p:nvPr/>
        </p:nvSpPr>
        <p:spPr>
          <a:xfrm>
            <a:off x="566928" y="2926080"/>
            <a:ext cx="2670048" cy="2331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926080"/>
            <a:ext cx="68580" cy="233172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3072384"/>
            <a:ext cx="2212848" cy="365760"/>
          </a:xfrm>
          <a:prstGeom prst="rect">
            <a:avLst/>
          </a:prstGeom>
          <a:noFill/>
        </p:spPr>
        <p:txBody>
          <a:bodyPr wrap="square" anchor="t" lIns="0" rIns="0" tIns="0" bIns="0">
            <a:spAutoFit/>
          </a:bodyPr>
          <a:lstStyle/>
          <a:p>
            <a:pPr algn="l">
              <a:lnSpc>
                <a:spcPct val="100000"/>
              </a:lnSpc>
            </a:pPr>
            <a:r>
              <a:rPr sz="1400" b="1" i="0">
                <a:solidFill>
                  <a:srgbClr val="178F54"/>
                </a:solidFill>
                <a:latin typeface="Calibri"/>
              </a:rPr>
              <a:t>It drains for real</a:t>
            </a:r>
          </a:p>
        </p:txBody>
      </p:sp>
      <p:sp>
        <p:nvSpPr>
          <p:cNvPr id="16" name="TextBox 15"/>
          <p:cNvSpPr txBox="1"/>
          <p:nvPr/>
        </p:nvSpPr>
        <p:spPr>
          <a:xfrm>
            <a:off x="804672" y="3584448"/>
            <a:ext cx="2212848" cy="154533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The battery empties a little every second the robot is driving — faster if you speed the demo up.</a:t>
            </a:r>
          </a:p>
        </p:txBody>
      </p:sp>
      <p:sp>
        <p:nvSpPr>
          <p:cNvPr id="17" name="Rounded Rectangle 16"/>
          <p:cNvSpPr/>
          <p:nvPr/>
        </p:nvSpPr>
        <p:spPr>
          <a:xfrm>
            <a:off x="3374136" y="2926080"/>
            <a:ext cx="2670048" cy="2331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74136" y="2926080"/>
            <a:ext cx="68580" cy="2331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3072384"/>
            <a:ext cx="2212848" cy="365760"/>
          </a:xfrm>
          <a:prstGeom prst="rect">
            <a:avLst/>
          </a:prstGeom>
          <a:noFill/>
        </p:spPr>
        <p:txBody>
          <a:bodyPr wrap="square" anchor="t" lIns="0" rIns="0" tIns="0" bIns="0">
            <a:spAutoFit/>
          </a:bodyPr>
          <a:lstStyle/>
          <a:p>
            <a:pPr algn="l">
              <a:lnSpc>
                <a:spcPct val="100000"/>
              </a:lnSpc>
            </a:pPr>
            <a:r>
              <a:rPr sz="1400" b="1" i="0">
                <a:solidFill>
                  <a:srgbClr val="1F6FB2"/>
                </a:solidFill>
                <a:latin typeface="Calibri"/>
              </a:rPr>
              <a:t>It is checked 2× per second</a:t>
            </a:r>
          </a:p>
        </p:txBody>
      </p:sp>
      <p:sp>
        <p:nvSpPr>
          <p:cNvPr id="20" name="TextBox 19"/>
          <p:cNvSpPr txBox="1"/>
          <p:nvPr/>
        </p:nvSpPr>
        <p:spPr>
          <a:xfrm>
            <a:off x="3611880" y="3584448"/>
            <a:ext cx="2212848" cy="154533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A dedicated little program publishes the battery level on a topic everyone can read.</a:t>
            </a:r>
          </a:p>
        </p:txBody>
      </p:sp>
      <p:sp>
        <p:nvSpPr>
          <p:cNvPr id="21" name="Rounded Rectangle 20"/>
          <p:cNvSpPr/>
          <p:nvPr/>
        </p:nvSpPr>
        <p:spPr>
          <a:xfrm>
            <a:off x="6181344" y="2926080"/>
            <a:ext cx="2670048" cy="2331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2926080"/>
            <a:ext cx="68580" cy="233172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072384"/>
            <a:ext cx="2212848" cy="365760"/>
          </a:xfrm>
          <a:prstGeom prst="rect">
            <a:avLst/>
          </a:prstGeom>
          <a:noFill/>
        </p:spPr>
        <p:txBody>
          <a:bodyPr wrap="square" anchor="t" lIns="0" rIns="0" tIns="0" bIns="0">
            <a:spAutoFit/>
          </a:bodyPr>
          <a:lstStyle/>
          <a:p>
            <a:pPr algn="l">
              <a:lnSpc>
                <a:spcPct val="100000"/>
              </a:lnSpc>
            </a:pPr>
            <a:r>
              <a:rPr sz="1400" b="1" i="0">
                <a:solidFill>
                  <a:srgbClr val="E07B1B"/>
                </a:solidFill>
                <a:latin typeface="Calibri"/>
              </a:rPr>
              <a:t>40% = time to go home</a:t>
            </a:r>
          </a:p>
        </p:txBody>
      </p:sp>
      <p:sp>
        <p:nvSpPr>
          <p:cNvPr id="24" name="TextBox 23"/>
          <p:cNvSpPr txBox="1"/>
          <p:nvPr/>
        </p:nvSpPr>
        <p:spPr>
          <a:xfrm>
            <a:off x="6419088" y="3584448"/>
            <a:ext cx="2212848" cy="154533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Crossing 40% cancels whatever chore it is doing and sends it to the dock.</a:t>
            </a:r>
          </a:p>
        </p:txBody>
      </p:sp>
      <p:sp>
        <p:nvSpPr>
          <p:cNvPr id="25" name="Rounded Rectangle 24"/>
          <p:cNvSpPr/>
          <p:nvPr/>
        </p:nvSpPr>
        <p:spPr>
          <a:xfrm>
            <a:off x="8988552" y="2926080"/>
            <a:ext cx="2670048" cy="2331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8552" y="2926080"/>
            <a:ext cx="68580" cy="2331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26296" y="3072384"/>
            <a:ext cx="2212848" cy="365760"/>
          </a:xfrm>
          <a:prstGeom prst="rect">
            <a:avLst/>
          </a:prstGeom>
          <a:noFill/>
        </p:spPr>
        <p:txBody>
          <a:bodyPr wrap="square" anchor="t" lIns="0" rIns="0" tIns="0" bIns="0">
            <a:spAutoFit/>
          </a:bodyPr>
          <a:lstStyle/>
          <a:p>
            <a:pPr algn="l">
              <a:lnSpc>
                <a:spcPct val="100000"/>
              </a:lnSpc>
            </a:pPr>
            <a:r>
              <a:rPr sz="1400" b="1" i="0">
                <a:solidFill>
                  <a:srgbClr val="C0392B"/>
                </a:solidFill>
                <a:latin typeface="Calibri"/>
              </a:rPr>
              <a:t>1% = stop everything</a:t>
            </a:r>
          </a:p>
        </p:txBody>
      </p:sp>
      <p:sp>
        <p:nvSpPr>
          <p:cNvPr id="28" name="TextBox 27"/>
          <p:cNvSpPr txBox="1"/>
          <p:nvPr/>
        </p:nvSpPr>
        <p:spPr>
          <a:xfrm>
            <a:off x="9226296" y="3584448"/>
            <a:ext cx="2212848" cy="1545336"/>
          </a:xfrm>
          <a:prstGeom prst="rect">
            <a:avLst/>
          </a:prstGeom>
          <a:noFill/>
        </p:spPr>
        <p:txBody>
          <a:bodyPr wrap="square" anchor="t" lIns="0" rIns="0" tIns="0" bIns="0">
            <a:spAutoFit/>
          </a:bodyPr>
          <a:lstStyle/>
          <a:p>
            <a:pPr algn="l">
              <a:lnSpc>
                <a:spcPct val="105000"/>
              </a:lnSpc>
            </a:pPr>
            <a:r>
              <a:rPr sz="1200" b="0" i="0">
                <a:solidFill>
                  <a:srgbClr val="333D49"/>
                </a:solidFill>
                <a:latin typeface="Calibri"/>
              </a:rPr>
              <a:t>Below 1% it refuses to start new work, so it can never die in the middle of the room.</a:t>
            </a:r>
          </a:p>
        </p:txBody>
      </p:sp>
      <p:sp>
        <p:nvSpPr>
          <p:cNvPr id="29" name="Rounded Rectangle 28"/>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For demos you can speed the battery up, so a whole clean-and-charge cycle takes minutes instead of hours.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4 — It parks and charges itself</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The hardest centimetres: the last 15 cm into the dock</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8/16</a:t>
            </a:r>
          </a:p>
        </p:txBody>
      </p:sp>
      <p:sp>
        <p:nvSpPr>
          <p:cNvPr id="6" name="Rounded Rectangle 5"/>
          <p:cNvSpPr/>
          <p:nvPr/>
        </p:nvSpPr>
        <p:spPr>
          <a:xfrm>
            <a:off x="566928"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17320"/>
            <a:ext cx="1737360"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25296" y="1645920"/>
            <a:ext cx="420624" cy="420624"/>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25296"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1</a:t>
            </a:r>
          </a:p>
        </p:txBody>
      </p:sp>
      <p:sp>
        <p:nvSpPr>
          <p:cNvPr id="10" name="TextBox 9"/>
          <p:cNvSpPr txBox="1"/>
          <p:nvPr/>
        </p:nvSpPr>
        <p:spPr>
          <a:xfrm>
            <a:off x="694944" y="2194560"/>
            <a:ext cx="1481328" cy="502920"/>
          </a:xfrm>
          <a:prstGeom prst="rect">
            <a:avLst/>
          </a:prstGeom>
          <a:noFill/>
        </p:spPr>
        <p:txBody>
          <a:bodyPr wrap="square" anchor="t" lIns="0" rIns="0" tIns="0" bIns="0">
            <a:spAutoFit/>
          </a:bodyPr>
          <a:lstStyle/>
          <a:p>
            <a:pPr algn="ctr">
              <a:lnSpc>
                <a:spcPct val="100000"/>
              </a:lnSpc>
            </a:pPr>
            <a:r>
              <a:rPr sz="1400" b="1" i="0">
                <a:solidFill>
                  <a:srgbClr val="1F6FB2"/>
                </a:solidFill>
                <a:latin typeface="Calibri"/>
              </a:rPr>
              <a:t>Drive home</a:t>
            </a:r>
          </a:p>
        </p:txBody>
      </p:sp>
      <p:sp>
        <p:nvSpPr>
          <p:cNvPr id="11" name="TextBox 10"/>
          <p:cNvSpPr txBox="1"/>
          <p:nvPr/>
        </p:nvSpPr>
        <p:spPr>
          <a:xfrm>
            <a:off x="694944"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Follows the map to a spot about a metre in front of the dock.</a:t>
            </a:r>
          </a:p>
        </p:txBody>
      </p:sp>
      <p:sp>
        <p:nvSpPr>
          <p:cNvPr id="12" name="Right Arrow 11"/>
          <p:cNvSpPr/>
          <p:nvPr/>
        </p:nvSpPr>
        <p:spPr>
          <a:xfrm>
            <a:off x="2313432" y="2560320"/>
            <a:ext cx="146304" cy="182880"/>
          </a:xfrm>
          <a:prstGeom prst="rightArrow">
            <a:avLst/>
          </a:prstGeom>
          <a:solidFill>
            <a:srgbClr val="A9B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459735"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459735" y="1417320"/>
            <a:ext cx="1737360"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118103" y="1645920"/>
            <a:ext cx="420624" cy="420624"/>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18103"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2</a:t>
            </a:r>
          </a:p>
        </p:txBody>
      </p:sp>
      <p:sp>
        <p:nvSpPr>
          <p:cNvPr id="17" name="TextBox 16"/>
          <p:cNvSpPr txBox="1"/>
          <p:nvPr/>
        </p:nvSpPr>
        <p:spPr>
          <a:xfrm>
            <a:off x="2587751" y="2194560"/>
            <a:ext cx="1481328" cy="502920"/>
          </a:xfrm>
          <a:prstGeom prst="rect">
            <a:avLst/>
          </a:prstGeom>
          <a:noFill/>
        </p:spPr>
        <p:txBody>
          <a:bodyPr wrap="square" anchor="t" lIns="0" rIns="0" tIns="0" bIns="0">
            <a:spAutoFit/>
          </a:bodyPr>
          <a:lstStyle/>
          <a:p>
            <a:pPr algn="ctr">
              <a:lnSpc>
                <a:spcPct val="100000"/>
              </a:lnSpc>
            </a:pPr>
            <a:r>
              <a:rPr sz="1400" b="1" i="0">
                <a:solidFill>
                  <a:srgbClr val="1F6FB2"/>
                </a:solidFill>
                <a:latin typeface="Calibri"/>
              </a:rPr>
              <a:t>Line up</a:t>
            </a:r>
          </a:p>
        </p:txBody>
      </p:sp>
      <p:sp>
        <p:nvSpPr>
          <p:cNvPr id="18" name="TextBox 17"/>
          <p:cNvSpPr txBox="1"/>
          <p:nvPr/>
        </p:nvSpPr>
        <p:spPr>
          <a:xfrm>
            <a:off x="2587751"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Turns to face the dock squarely.</a:t>
            </a:r>
          </a:p>
        </p:txBody>
      </p:sp>
      <p:sp>
        <p:nvSpPr>
          <p:cNvPr id="19" name="Right Arrow 18"/>
          <p:cNvSpPr/>
          <p:nvPr/>
        </p:nvSpPr>
        <p:spPr>
          <a:xfrm>
            <a:off x="4206239" y="2560320"/>
            <a:ext cx="146304" cy="182880"/>
          </a:xfrm>
          <a:prstGeom prst="rightArrow">
            <a:avLst/>
          </a:prstGeom>
          <a:solidFill>
            <a:srgbClr val="A9B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352542"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52542" y="1417320"/>
            <a:ext cx="1737360" cy="9144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10910" y="1645920"/>
            <a:ext cx="420624" cy="420624"/>
          </a:xfrm>
          <a:prstGeom prst="ellipse">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10910"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3</a:t>
            </a:r>
          </a:p>
        </p:txBody>
      </p:sp>
      <p:sp>
        <p:nvSpPr>
          <p:cNvPr id="24" name="TextBox 23"/>
          <p:cNvSpPr txBox="1"/>
          <p:nvPr/>
        </p:nvSpPr>
        <p:spPr>
          <a:xfrm>
            <a:off x="4480558" y="2194560"/>
            <a:ext cx="1481328" cy="502920"/>
          </a:xfrm>
          <a:prstGeom prst="rect">
            <a:avLst/>
          </a:prstGeom>
          <a:noFill/>
        </p:spPr>
        <p:txBody>
          <a:bodyPr wrap="square" anchor="t" lIns="0" rIns="0" tIns="0" bIns="0">
            <a:spAutoFit/>
          </a:bodyPr>
          <a:lstStyle/>
          <a:p>
            <a:pPr algn="ctr">
              <a:lnSpc>
                <a:spcPct val="100000"/>
              </a:lnSpc>
            </a:pPr>
            <a:r>
              <a:rPr sz="1400" b="1" i="0">
                <a:solidFill>
                  <a:srgbClr val="E07B1B"/>
                </a:solidFill>
                <a:latin typeface="Calibri"/>
              </a:rPr>
              <a:t>Creep in slowly</a:t>
            </a:r>
          </a:p>
        </p:txBody>
      </p:sp>
      <p:sp>
        <p:nvSpPr>
          <p:cNvPr id="25" name="TextBox 24"/>
          <p:cNvSpPr txBox="1"/>
          <p:nvPr/>
        </p:nvSpPr>
        <p:spPr>
          <a:xfrm>
            <a:off x="4480558"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Slows to 4 cm per second using only its front laser as eyes.</a:t>
            </a:r>
          </a:p>
        </p:txBody>
      </p:sp>
      <p:sp>
        <p:nvSpPr>
          <p:cNvPr id="26" name="Right Arrow 25"/>
          <p:cNvSpPr/>
          <p:nvPr/>
        </p:nvSpPr>
        <p:spPr>
          <a:xfrm>
            <a:off x="6099046" y="2560320"/>
            <a:ext cx="146304" cy="182880"/>
          </a:xfrm>
          <a:prstGeom prst="rightArrow">
            <a:avLst/>
          </a:prstGeom>
          <a:solidFill>
            <a:srgbClr val="A9B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45349"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45349" y="1417320"/>
            <a:ext cx="1737360" cy="914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03717" y="1645920"/>
            <a:ext cx="420624" cy="420624"/>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03717"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4</a:t>
            </a:r>
          </a:p>
        </p:txBody>
      </p:sp>
      <p:sp>
        <p:nvSpPr>
          <p:cNvPr id="31" name="TextBox 30"/>
          <p:cNvSpPr txBox="1"/>
          <p:nvPr/>
        </p:nvSpPr>
        <p:spPr>
          <a:xfrm>
            <a:off x="6373365" y="2194560"/>
            <a:ext cx="1481328" cy="502920"/>
          </a:xfrm>
          <a:prstGeom prst="rect">
            <a:avLst/>
          </a:prstGeom>
          <a:noFill/>
        </p:spPr>
        <p:txBody>
          <a:bodyPr wrap="square" anchor="t" lIns="0" rIns="0" tIns="0" bIns="0">
            <a:spAutoFit/>
          </a:bodyPr>
          <a:lstStyle/>
          <a:p>
            <a:pPr algn="ctr">
              <a:lnSpc>
                <a:spcPct val="100000"/>
              </a:lnSpc>
            </a:pPr>
            <a:r>
              <a:rPr sz="1400" b="1" i="0">
                <a:solidFill>
                  <a:srgbClr val="178F54"/>
                </a:solidFill>
                <a:latin typeface="Calibri"/>
              </a:rPr>
              <a:t>Touch &amp; confirm</a:t>
            </a:r>
          </a:p>
        </p:txBody>
      </p:sp>
      <p:sp>
        <p:nvSpPr>
          <p:cNvPr id="32" name="TextBox 31"/>
          <p:cNvSpPr txBox="1"/>
          <p:nvPr/>
        </p:nvSpPr>
        <p:spPr>
          <a:xfrm>
            <a:off x="6373365"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When the wall of the dock is 13 cm away it considers itself parked.</a:t>
            </a:r>
          </a:p>
        </p:txBody>
      </p:sp>
      <p:sp>
        <p:nvSpPr>
          <p:cNvPr id="33" name="Right Arrow 32"/>
          <p:cNvSpPr/>
          <p:nvPr/>
        </p:nvSpPr>
        <p:spPr>
          <a:xfrm>
            <a:off x="7991853" y="2560320"/>
            <a:ext cx="146304" cy="182880"/>
          </a:xfrm>
          <a:prstGeom prst="rightArrow">
            <a:avLst/>
          </a:prstGeom>
          <a:solidFill>
            <a:srgbClr val="A9B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138156"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38156" y="1417320"/>
            <a:ext cx="1737360" cy="914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796524" y="1645920"/>
            <a:ext cx="420624" cy="420624"/>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96524"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5</a:t>
            </a:r>
          </a:p>
        </p:txBody>
      </p:sp>
      <p:sp>
        <p:nvSpPr>
          <p:cNvPr id="38" name="TextBox 37"/>
          <p:cNvSpPr txBox="1"/>
          <p:nvPr/>
        </p:nvSpPr>
        <p:spPr>
          <a:xfrm>
            <a:off x="8266172" y="2194560"/>
            <a:ext cx="1481328" cy="502920"/>
          </a:xfrm>
          <a:prstGeom prst="rect">
            <a:avLst/>
          </a:prstGeom>
          <a:noFill/>
        </p:spPr>
        <p:txBody>
          <a:bodyPr wrap="square" anchor="t" lIns="0" rIns="0" tIns="0" bIns="0">
            <a:spAutoFit/>
          </a:bodyPr>
          <a:lstStyle/>
          <a:p>
            <a:pPr algn="ctr">
              <a:lnSpc>
                <a:spcPct val="100000"/>
              </a:lnSpc>
            </a:pPr>
            <a:r>
              <a:rPr sz="1400" b="1" i="0">
                <a:solidFill>
                  <a:srgbClr val="178F54"/>
                </a:solidFill>
                <a:latin typeface="Calibri"/>
              </a:rPr>
              <a:t>Charge</a:t>
            </a:r>
          </a:p>
        </p:txBody>
      </p:sp>
      <p:sp>
        <p:nvSpPr>
          <p:cNvPr id="39" name="TextBox 38"/>
          <p:cNvSpPr txBox="1"/>
          <p:nvPr/>
        </p:nvSpPr>
        <p:spPr>
          <a:xfrm>
            <a:off x="8266172"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Tells the dock to start charging, then waits quietly for 95%.</a:t>
            </a:r>
          </a:p>
        </p:txBody>
      </p:sp>
      <p:sp>
        <p:nvSpPr>
          <p:cNvPr id="40" name="Right Arrow 39"/>
          <p:cNvSpPr/>
          <p:nvPr/>
        </p:nvSpPr>
        <p:spPr>
          <a:xfrm>
            <a:off x="9884660" y="2560320"/>
            <a:ext cx="146304" cy="182880"/>
          </a:xfrm>
          <a:prstGeom prst="rightArrow">
            <a:avLst/>
          </a:prstGeom>
          <a:solidFill>
            <a:srgbClr val="A9B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0030963" y="1417320"/>
            <a:ext cx="1737360" cy="251460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030963" y="1417320"/>
            <a:ext cx="1737360"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0689331" y="1645920"/>
            <a:ext cx="420624" cy="420624"/>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689331" y="1645920"/>
            <a:ext cx="420624" cy="420624"/>
          </a:xfrm>
          <a:prstGeom prst="rect">
            <a:avLst/>
          </a:prstGeom>
          <a:noFill/>
        </p:spPr>
        <p:txBody>
          <a:bodyPr wrap="square" anchor="ctr" lIns="0" rIns="0" tIns="0" bIns="0">
            <a:spAutoFit/>
          </a:bodyPr>
          <a:lstStyle/>
          <a:p>
            <a:pPr algn="ctr">
              <a:lnSpc>
                <a:spcPct val="100000"/>
              </a:lnSpc>
            </a:pPr>
            <a:r>
              <a:rPr sz="1400" b="1" i="0">
                <a:solidFill>
                  <a:srgbClr val="FFFFFF"/>
                </a:solidFill>
                <a:latin typeface="Calibri"/>
              </a:rPr>
              <a:t>6</a:t>
            </a:r>
          </a:p>
        </p:txBody>
      </p:sp>
      <p:sp>
        <p:nvSpPr>
          <p:cNvPr id="45" name="TextBox 44"/>
          <p:cNvSpPr txBox="1"/>
          <p:nvPr/>
        </p:nvSpPr>
        <p:spPr>
          <a:xfrm>
            <a:off x="10158979" y="2194560"/>
            <a:ext cx="1481328" cy="502920"/>
          </a:xfrm>
          <a:prstGeom prst="rect">
            <a:avLst/>
          </a:prstGeom>
          <a:noFill/>
        </p:spPr>
        <p:txBody>
          <a:bodyPr wrap="square" anchor="t" lIns="0" rIns="0" tIns="0" bIns="0">
            <a:spAutoFit/>
          </a:bodyPr>
          <a:lstStyle/>
          <a:p>
            <a:pPr algn="ctr">
              <a:lnSpc>
                <a:spcPct val="100000"/>
              </a:lnSpc>
            </a:pPr>
            <a:r>
              <a:rPr sz="1400" b="1" i="0">
                <a:solidFill>
                  <a:srgbClr val="1F6FB2"/>
                </a:solidFill>
                <a:latin typeface="Calibri"/>
              </a:rPr>
              <a:t>Reverse out</a:t>
            </a:r>
          </a:p>
        </p:txBody>
      </p:sp>
      <p:sp>
        <p:nvSpPr>
          <p:cNvPr id="46" name="TextBox 45"/>
          <p:cNvSpPr txBox="1"/>
          <p:nvPr/>
        </p:nvSpPr>
        <p:spPr>
          <a:xfrm>
            <a:off x="10158979" y="2697480"/>
            <a:ext cx="1481328" cy="1143000"/>
          </a:xfrm>
          <a:prstGeom prst="rect">
            <a:avLst/>
          </a:prstGeom>
          <a:noFill/>
        </p:spPr>
        <p:txBody>
          <a:bodyPr wrap="square" anchor="t" lIns="0" rIns="0" tIns="0" bIns="0">
            <a:spAutoFit/>
          </a:bodyPr>
          <a:lstStyle/>
          <a:p>
            <a:pPr algn="ctr">
              <a:lnSpc>
                <a:spcPct val="100000"/>
              </a:lnSpc>
            </a:pPr>
            <a:r>
              <a:rPr sz="1100" b="0" i="0">
                <a:solidFill>
                  <a:srgbClr val="333D49"/>
                </a:solidFill>
                <a:latin typeface="Calibri"/>
              </a:rPr>
              <a:t>Backs up 48 cm, proves it really moved, and resumes cleaning.</a:t>
            </a:r>
          </a:p>
        </p:txBody>
      </p:sp>
      <p:sp>
        <p:nvSpPr>
          <p:cNvPr id="47" name="Rounded Rectangle 46"/>
          <p:cNvSpPr/>
          <p:nvPr/>
        </p:nvSpPr>
        <p:spPr>
          <a:xfrm>
            <a:off x="566928" y="4224528"/>
            <a:ext cx="11064240" cy="960120"/>
          </a:xfrm>
          <a:prstGeom prst="roundRect">
            <a:avLst>
              <a:gd name="adj" fmla="val 12000"/>
            </a:avLst>
          </a:prstGeom>
          <a:solidFill>
            <a:srgbClr val="FFF4E0"/>
          </a:solidFill>
          <a:ln w="15875">
            <a:solidFill>
              <a:srgbClr val="F0D2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4224528"/>
            <a:ext cx="10469880" cy="960120"/>
          </a:xfrm>
          <a:prstGeom prst="rect">
            <a:avLst/>
          </a:prstGeom>
          <a:noFill/>
        </p:spPr>
        <p:txBody>
          <a:bodyPr wrap="square" anchor="ctr" lIns="0" rIns="0" tIns="0" bIns="0">
            <a:spAutoFit/>
          </a:bodyPr>
          <a:lstStyle/>
          <a:p>
            <a:pPr algn="l">
              <a:lnSpc>
                <a:spcPct val="100000"/>
              </a:lnSpc>
            </a:pPr>
            <a:r>
              <a:rPr sz="1400" b="0" i="0">
                <a:solidFill>
                  <a:srgbClr val="8A540A"/>
                </a:solidFill>
                <a:latin typeface="Calibri"/>
              </a:rPr>
              <a:t>Why it is tricky: the map is a little fuzzy, so it might stop 28 cm short of the dock. The robot therefore uses the laser for the final approach, and tries up to five slightly different parking spots before giving up.</a:t>
            </a:r>
          </a:p>
        </p:txBody>
      </p:sp>
      <p:sp>
        <p:nvSpPr>
          <p:cNvPr id="49" name="Rounded Rectangle 48"/>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It never pretends to be docked: if it did not move when asked, it says so and the battery will not claim to be charging.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Step 5 — Why it never gets stuck</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Three layers of babysitters, from inside the robot to the host PC</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9/16</a:t>
            </a:r>
          </a:p>
        </p:txBody>
      </p:sp>
      <p:sp>
        <p:nvSpPr>
          <p:cNvPr id="6" name="Rounded Rectangle 5"/>
          <p:cNvSpPr/>
          <p:nvPr/>
        </p:nvSpPr>
        <p:spPr>
          <a:xfrm>
            <a:off x="566928" y="1417320"/>
            <a:ext cx="11064240" cy="1188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17320"/>
            <a:ext cx="77724" cy="11887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1737360"/>
            <a:ext cx="566928" cy="566928"/>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3736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Calibri"/>
              </a:rPr>
              <a:t>1</a:t>
            </a:r>
          </a:p>
        </p:txBody>
      </p:sp>
      <p:sp>
        <p:nvSpPr>
          <p:cNvPr id="10" name="TextBox 9"/>
          <p:cNvSpPr txBox="1"/>
          <p:nvPr/>
        </p:nvSpPr>
        <p:spPr>
          <a:xfrm>
            <a:off x="1600200" y="1545336"/>
            <a:ext cx="3657600" cy="914400"/>
          </a:xfrm>
          <a:prstGeom prst="rect">
            <a:avLst/>
          </a:prstGeom>
          <a:noFill/>
        </p:spPr>
        <p:txBody>
          <a:bodyPr wrap="square" anchor="ctr" lIns="0" rIns="0" tIns="0" bIns="0">
            <a:spAutoFit/>
          </a:bodyPr>
          <a:lstStyle/>
          <a:p>
            <a:pPr algn="l">
              <a:lnSpc>
                <a:spcPct val="100000"/>
              </a:lnSpc>
            </a:pPr>
            <a:r>
              <a:rPr sz="1600" b="1" i="0">
                <a:solidFill>
                  <a:srgbClr val="1F6FB2"/>
                </a:solidFill>
                <a:latin typeface="Calibri"/>
              </a:rPr>
              <a:t>Layer 1 — inside the robot</a:t>
            </a:r>
          </a:p>
        </p:txBody>
      </p:sp>
      <p:sp>
        <p:nvSpPr>
          <p:cNvPr id="11" name="TextBox 10"/>
          <p:cNvSpPr txBox="1"/>
          <p:nvPr/>
        </p:nvSpPr>
        <p:spPr>
          <a:xfrm>
            <a:off x="5394960" y="1545336"/>
            <a:ext cx="6035040" cy="914400"/>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A watchdog timer checks the battery twice a second and cancels the current chore the moment it gets low.</a:t>
            </a:r>
          </a:p>
        </p:txBody>
      </p:sp>
      <p:sp>
        <p:nvSpPr>
          <p:cNvPr id="12" name="Rounded Rectangle 11"/>
          <p:cNvSpPr/>
          <p:nvPr/>
        </p:nvSpPr>
        <p:spPr>
          <a:xfrm>
            <a:off x="566928" y="1417320"/>
            <a:ext cx="11064240" cy="1188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1417320"/>
            <a:ext cx="77724" cy="118872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 y="1737360"/>
            <a:ext cx="566928" cy="566928"/>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173736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Calibri"/>
              </a:rPr>
              <a:t>2</a:t>
            </a:r>
          </a:p>
        </p:txBody>
      </p:sp>
      <p:sp>
        <p:nvSpPr>
          <p:cNvPr id="16" name="TextBox 15"/>
          <p:cNvSpPr txBox="1"/>
          <p:nvPr/>
        </p:nvSpPr>
        <p:spPr>
          <a:xfrm>
            <a:off x="1600200" y="1545336"/>
            <a:ext cx="3657600" cy="914400"/>
          </a:xfrm>
          <a:prstGeom prst="rect">
            <a:avLst/>
          </a:prstGeom>
          <a:noFill/>
        </p:spPr>
        <p:txBody>
          <a:bodyPr wrap="square" anchor="ctr" lIns="0" rIns="0" tIns="0" bIns="0">
            <a:spAutoFit/>
          </a:bodyPr>
          <a:lstStyle/>
          <a:p>
            <a:pPr algn="l">
              <a:lnSpc>
                <a:spcPct val="100000"/>
              </a:lnSpc>
            </a:pPr>
            <a:r>
              <a:rPr sz="1600" b="1" i="0">
                <a:solidFill>
                  <a:srgbClr val="178F54"/>
                </a:solidFill>
                <a:latin typeface="Calibri"/>
              </a:rPr>
              <a:t>Layer 2 — the robot's instinct</a:t>
            </a:r>
          </a:p>
        </p:txBody>
      </p:sp>
      <p:sp>
        <p:nvSpPr>
          <p:cNvPr id="17" name="TextBox 16"/>
          <p:cNvSpPr txBox="1"/>
          <p:nvPr/>
        </p:nvSpPr>
        <p:spPr>
          <a:xfrm>
            <a:off x="5394960" y="1545336"/>
            <a:ext cx="6035040" cy="914400"/>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It measures its own movement. If it is told to drive but nothing happens for 15 seconds, it gives up on that spot and moves on.</a:t>
            </a:r>
          </a:p>
        </p:txBody>
      </p:sp>
      <p:sp>
        <p:nvSpPr>
          <p:cNvPr id="18" name="Rounded Rectangle 17"/>
          <p:cNvSpPr/>
          <p:nvPr/>
        </p:nvSpPr>
        <p:spPr>
          <a:xfrm>
            <a:off x="566928" y="1417320"/>
            <a:ext cx="11064240" cy="11887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1417320"/>
            <a:ext cx="77724" cy="118872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2960" y="1737360"/>
            <a:ext cx="566928" cy="566928"/>
          </a:xfrm>
          <a:prstGeom prst="ellipse">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1737360"/>
            <a:ext cx="566928" cy="566928"/>
          </a:xfrm>
          <a:prstGeom prst="rect">
            <a:avLst/>
          </a:prstGeom>
          <a:noFill/>
        </p:spPr>
        <p:txBody>
          <a:bodyPr wrap="square" anchor="ctr" lIns="0" rIns="0" tIns="0" bIns="0">
            <a:spAutoFit/>
          </a:bodyPr>
          <a:lstStyle/>
          <a:p>
            <a:pPr algn="ctr">
              <a:lnSpc>
                <a:spcPct val="100000"/>
              </a:lnSpc>
            </a:pPr>
            <a:r>
              <a:rPr sz="1800" b="1" i="0">
                <a:solidFill>
                  <a:srgbClr val="FFFFFF"/>
                </a:solidFill>
                <a:latin typeface="Calibri"/>
              </a:rPr>
              <a:t>3</a:t>
            </a:r>
          </a:p>
        </p:txBody>
      </p:sp>
      <p:sp>
        <p:nvSpPr>
          <p:cNvPr id="22" name="TextBox 21"/>
          <p:cNvSpPr txBox="1"/>
          <p:nvPr/>
        </p:nvSpPr>
        <p:spPr>
          <a:xfrm>
            <a:off x="1600200" y="1545336"/>
            <a:ext cx="3657600" cy="914400"/>
          </a:xfrm>
          <a:prstGeom prst="rect">
            <a:avLst/>
          </a:prstGeom>
          <a:noFill/>
        </p:spPr>
        <p:txBody>
          <a:bodyPr wrap="square" anchor="ctr" lIns="0" rIns="0" tIns="0" bIns="0">
            <a:spAutoFit/>
          </a:bodyPr>
          <a:lstStyle/>
          <a:p>
            <a:pPr algn="l">
              <a:lnSpc>
                <a:spcPct val="100000"/>
              </a:lnSpc>
            </a:pPr>
            <a:r>
              <a:rPr sz="1600" b="1" i="0">
                <a:solidFill>
                  <a:srgbClr val="E07B1B"/>
                </a:solidFill>
                <a:latin typeface="Calibri"/>
              </a:rPr>
              <a:t>Layer 3 — the computer watching</a:t>
            </a:r>
          </a:p>
        </p:txBody>
      </p:sp>
      <p:sp>
        <p:nvSpPr>
          <p:cNvPr id="23" name="TextBox 22"/>
          <p:cNvSpPr txBox="1"/>
          <p:nvPr/>
        </p:nvSpPr>
        <p:spPr>
          <a:xfrm>
            <a:off x="5394960" y="1545336"/>
            <a:ext cx="6035040" cy="914400"/>
          </a:xfrm>
          <a:prstGeom prst="rect">
            <a:avLst/>
          </a:prstGeom>
          <a:noFill/>
        </p:spPr>
        <p:txBody>
          <a:bodyPr wrap="square" anchor="ctr" lIns="0" rIns="0" tIns="0" bIns="0">
            <a:spAutoFit/>
          </a:bodyPr>
          <a:lstStyle/>
          <a:p>
            <a:pPr algn="l">
              <a:lnSpc>
                <a:spcPct val="100000"/>
              </a:lnSpc>
            </a:pPr>
            <a:r>
              <a:rPr sz="1300" b="0" i="0">
                <a:solidFill>
                  <a:srgbClr val="333D49"/>
                </a:solidFill>
                <a:latin typeface="Calibri"/>
              </a:rPr>
              <a:t>A separate program on the host reads the logs. If the robot is silent, stuck or repeating the same failure, it restarts the affected parts — and the whole simulation if needed.</a:t>
            </a:r>
          </a:p>
        </p:txBody>
      </p:sp>
      <p:sp>
        <p:nvSpPr>
          <p:cNvPr id="24" name="Rounded Rectangle 23"/>
          <p:cNvSpPr/>
          <p:nvPr/>
        </p:nvSpPr>
        <p:spPr>
          <a:xfrm>
            <a:off x="566928" y="5230368"/>
            <a:ext cx="11064240" cy="566928"/>
          </a:xfrm>
          <a:prstGeom prst="roundRect">
            <a:avLst>
              <a:gd name="adj" fmla="val 12000"/>
            </a:avLst>
          </a:prstGeom>
          <a:solidFill>
            <a:srgbClr val="142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230368"/>
            <a:ext cx="10469880" cy="566928"/>
          </a:xfrm>
          <a:prstGeom prst="rect">
            <a:avLst/>
          </a:prstGeom>
          <a:noFill/>
        </p:spPr>
        <p:txBody>
          <a:bodyPr wrap="square" anchor="ctr" lIns="0" rIns="0" tIns="0" bIns="0">
            <a:spAutoFit/>
          </a:bodyPr>
          <a:lstStyle/>
          <a:p>
            <a:pPr algn="l">
              <a:lnSpc>
                <a:spcPct val="100000"/>
              </a:lnSpc>
            </a:pPr>
            <a:r>
              <a:rPr sz="1400" b="1" i="0">
                <a:solidFill>
                  <a:srgbClr val="FFFFFF"/>
                </a:solidFill>
                <a:latin typeface="Calibri"/>
              </a:rPr>
              <a:t>Result: the robot skips one bad spot and carries on. It does not freeze, and it does not restart the whole simulation.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What the robot is made of</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Four groups of programs, each with one plain job</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10/16</a:t>
            </a:r>
          </a:p>
        </p:txBody>
      </p:sp>
      <p:sp>
        <p:nvSpPr>
          <p:cNvPr id="6" name="Rounded Rectangle 5"/>
          <p:cNvSpPr/>
          <p:nvPr/>
        </p:nvSpPr>
        <p:spPr>
          <a:xfrm>
            <a:off x="566928" y="1417320"/>
            <a:ext cx="2670048" cy="39776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17320"/>
            <a:ext cx="2670048"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45920"/>
            <a:ext cx="2304288" cy="411480"/>
          </a:xfrm>
          <a:prstGeom prst="rect">
            <a:avLst/>
          </a:prstGeom>
          <a:noFill/>
        </p:spPr>
        <p:txBody>
          <a:bodyPr wrap="square" anchor="ctr" lIns="0" rIns="0" tIns="0" bIns="0">
            <a:spAutoFit/>
          </a:bodyPr>
          <a:lstStyle/>
          <a:p>
            <a:pPr algn="l">
              <a:lnSpc>
                <a:spcPct val="100000"/>
              </a:lnSpc>
            </a:pPr>
            <a:r>
              <a:rPr sz="1700" b="1" i="0">
                <a:solidFill>
                  <a:srgbClr val="1F6FB2"/>
                </a:solidFill>
                <a:latin typeface="Calibri"/>
              </a:rPr>
              <a:t>Eyes &amp; ears</a:t>
            </a:r>
          </a:p>
        </p:txBody>
      </p:sp>
      <p:sp>
        <p:nvSpPr>
          <p:cNvPr id="9" name="TextBox 8"/>
          <p:cNvSpPr txBox="1"/>
          <p:nvPr/>
        </p:nvSpPr>
        <p:spPr>
          <a:xfrm>
            <a:off x="749808" y="2103120"/>
            <a:ext cx="2304288" cy="960120"/>
          </a:xfrm>
          <a:prstGeom prst="rect">
            <a:avLst/>
          </a:prstGeom>
          <a:noFill/>
        </p:spPr>
        <p:txBody>
          <a:bodyPr wrap="square" anchor="t" lIns="0" rIns="0" tIns="0" bIns="0">
            <a:spAutoFit/>
          </a:bodyPr>
          <a:lstStyle/>
          <a:p>
            <a:pPr algn="l">
              <a:lnSpc>
                <a:spcPct val="100000"/>
              </a:lnSpc>
            </a:pPr>
            <a:r>
              <a:rPr sz="1200" b="0" i="0">
                <a:solidFill>
                  <a:srgbClr val="333D49"/>
                </a:solidFill>
                <a:latin typeface="Calibri"/>
              </a:rPr>
              <a:t>Laser, wheel sensors, camera-less mapping. 'What is around me?'</a:t>
            </a:r>
          </a:p>
        </p:txBody>
      </p:sp>
      <p:sp>
        <p:nvSpPr>
          <p:cNvPr id="10" name="Rounded Rectangle 9"/>
          <p:cNvSpPr/>
          <p:nvPr/>
        </p:nvSpPr>
        <p:spPr>
          <a:xfrm>
            <a:off x="749808" y="3154680"/>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3154680"/>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Gazebo simulator</a:t>
            </a:r>
          </a:p>
        </p:txBody>
      </p:sp>
      <p:sp>
        <p:nvSpPr>
          <p:cNvPr id="12" name="Rounded Rectangle 11"/>
          <p:cNvSpPr/>
          <p:nvPr/>
        </p:nvSpPr>
        <p:spPr>
          <a:xfrm>
            <a:off x="749808" y="3721608"/>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3721608"/>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Laser scan</a:t>
            </a:r>
          </a:p>
        </p:txBody>
      </p:sp>
      <p:sp>
        <p:nvSpPr>
          <p:cNvPr id="14" name="Rounded Rectangle 13"/>
          <p:cNvSpPr/>
          <p:nvPr/>
        </p:nvSpPr>
        <p:spPr>
          <a:xfrm>
            <a:off x="749808" y="4288536"/>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4288536"/>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Live map (SLAM)</a:t>
            </a:r>
          </a:p>
        </p:txBody>
      </p:sp>
      <p:sp>
        <p:nvSpPr>
          <p:cNvPr id="16" name="Rounded Rectangle 15"/>
          <p:cNvSpPr/>
          <p:nvPr/>
        </p:nvSpPr>
        <p:spPr>
          <a:xfrm>
            <a:off x="3374136" y="1417320"/>
            <a:ext cx="2670048" cy="39776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74136" y="1417320"/>
            <a:ext cx="2670048" cy="914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7016" y="1645920"/>
            <a:ext cx="2304288" cy="411480"/>
          </a:xfrm>
          <a:prstGeom prst="rect">
            <a:avLst/>
          </a:prstGeom>
          <a:noFill/>
        </p:spPr>
        <p:txBody>
          <a:bodyPr wrap="square" anchor="ctr" lIns="0" rIns="0" tIns="0" bIns="0">
            <a:spAutoFit/>
          </a:bodyPr>
          <a:lstStyle/>
          <a:p>
            <a:pPr algn="l">
              <a:lnSpc>
                <a:spcPct val="100000"/>
              </a:lnSpc>
            </a:pPr>
            <a:r>
              <a:rPr sz="1700" b="1" i="0">
                <a:solidFill>
                  <a:srgbClr val="178F54"/>
                </a:solidFill>
                <a:latin typeface="Calibri"/>
              </a:rPr>
              <a:t>The driver</a:t>
            </a:r>
          </a:p>
        </p:txBody>
      </p:sp>
      <p:sp>
        <p:nvSpPr>
          <p:cNvPr id="19" name="TextBox 18"/>
          <p:cNvSpPr txBox="1"/>
          <p:nvPr/>
        </p:nvSpPr>
        <p:spPr>
          <a:xfrm>
            <a:off x="3557016" y="2103120"/>
            <a:ext cx="2304288" cy="960120"/>
          </a:xfrm>
          <a:prstGeom prst="rect">
            <a:avLst/>
          </a:prstGeom>
          <a:noFill/>
        </p:spPr>
        <p:txBody>
          <a:bodyPr wrap="square" anchor="t" lIns="0" rIns="0" tIns="0" bIns="0">
            <a:spAutoFit/>
          </a:bodyPr>
          <a:lstStyle/>
          <a:p>
            <a:pPr algn="l">
              <a:lnSpc>
                <a:spcPct val="100000"/>
              </a:lnSpc>
            </a:pPr>
            <a:r>
              <a:rPr sz="1200" b="0" i="0">
                <a:solidFill>
                  <a:srgbClr val="333D49"/>
                </a:solidFill>
                <a:latin typeface="Calibri"/>
              </a:rPr>
              <a:t>Path planning, steering, obstacle avoidance, smooth accelerations.</a:t>
            </a:r>
          </a:p>
        </p:txBody>
      </p:sp>
      <p:sp>
        <p:nvSpPr>
          <p:cNvPr id="20" name="Rounded Rectangle 19"/>
          <p:cNvSpPr/>
          <p:nvPr/>
        </p:nvSpPr>
        <p:spPr>
          <a:xfrm>
            <a:off x="3557016" y="3154680"/>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48456" y="3154680"/>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Navigator</a:t>
            </a:r>
          </a:p>
        </p:txBody>
      </p:sp>
      <p:sp>
        <p:nvSpPr>
          <p:cNvPr id="22" name="Rounded Rectangle 21"/>
          <p:cNvSpPr/>
          <p:nvPr/>
        </p:nvSpPr>
        <p:spPr>
          <a:xfrm>
            <a:off x="3557016" y="3721608"/>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48456" y="3721608"/>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Driver (MPPI)</a:t>
            </a:r>
          </a:p>
        </p:txBody>
      </p:sp>
      <p:sp>
        <p:nvSpPr>
          <p:cNvPr id="24" name="Rounded Rectangle 23"/>
          <p:cNvSpPr/>
          <p:nvPr/>
        </p:nvSpPr>
        <p:spPr>
          <a:xfrm>
            <a:off x="3557016" y="4288536"/>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4288536"/>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Safety gate</a:t>
            </a:r>
          </a:p>
        </p:txBody>
      </p:sp>
      <p:sp>
        <p:nvSpPr>
          <p:cNvPr id="26" name="Rounded Rectangle 25"/>
          <p:cNvSpPr/>
          <p:nvPr/>
        </p:nvSpPr>
        <p:spPr>
          <a:xfrm>
            <a:off x="6181344" y="1417320"/>
            <a:ext cx="2670048" cy="39776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1417320"/>
            <a:ext cx="2670048" cy="9144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64224" y="1645920"/>
            <a:ext cx="2304288" cy="411480"/>
          </a:xfrm>
          <a:prstGeom prst="rect">
            <a:avLst/>
          </a:prstGeom>
          <a:noFill/>
        </p:spPr>
        <p:txBody>
          <a:bodyPr wrap="square" anchor="ctr" lIns="0" rIns="0" tIns="0" bIns="0">
            <a:spAutoFit/>
          </a:bodyPr>
          <a:lstStyle/>
          <a:p>
            <a:pPr algn="l">
              <a:lnSpc>
                <a:spcPct val="100000"/>
              </a:lnSpc>
            </a:pPr>
            <a:r>
              <a:rPr sz="1700" b="1" i="0">
                <a:solidFill>
                  <a:srgbClr val="E07B1B"/>
                </a:solidFill>
                <a:latin typeface="Calibri"/>
              </a:rPr>
              <a:t>The brain</a:t>
            </a:r>
          </a:p>
        </p:txBody>
      </p:sp>
      <p:sp>
        <p:nvSpPr>
          <p:cNvPr id="29" name="TextBox 28"/>
          <p:cNvSpPr txBox="1"/>
          <p:nvPr/>
        </p:nvSpPr>
        <p:spPr>
          <a:xfrm>
            <a:off x="6364224" y="2103120"/>
            <a:ext cx="2304288" cy="960120"/>
          </a:xfrm>
          <a:prstGeom prst="rect">
            <a:avLst/>
          </a:prstGeom>
          <a:noFill/>
        </p:spPr>
        <p:txBody>
          <a:bodyPr wrap="square" anchor="t" lIns="0" rIns="0" tIns="0" bIns="0">
            <a:spAutoFit/>
          </a:bodyPr>
          <a:lstStyle/>
          <a:p>
            <a:pPr algn="l">
              <a:lnSpc>
                <a:spcPct val="100000"/>
              </a:lnSpc>
            </a:pPr>
            <a:r>
              <a:rPr sz="1200" b="0" i="0">
                <a:solidFill>
                  <a:srgbClr val="333D49"/>
                </a:solidFill>
                <a:latin typeface="Calibri"/>
              </a:rPr>
              <a:t>The to-do list: clean → park → charge → resume, plus all the checks.</a:t>
            </a:r>
          </a:p>
        </p:txBody>
      </p:sp>
      <p:sp>
        <p:nvSpPr>
          <p:cNvPr id="30" name="Rounded Rectangle 29"/>
          <p:cNvSpPr/>
          <p:nvPr/>
        </p:nvSpPr>
        <p:spPr>
          <a:xfrm>
            <a:off x="6364224" y="3154680"/>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55664" y="3154680"/>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Mission supervisor</a:t>
            </a:r>
          </a:p>
        </p:txBody>
      </p:sp>
      <p:sp>
        <p:nvSpPr>
          <p:cNvPr id="32" name="Rounded Rectangle 31"/>
          <p:cNvSpPr/>
          <p:nvPr/>
        </p:nvSpPr>
        <p:spPr>
          <a:xfrm>
            <a:off x="6364224" y="3721608"/>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55664" y="3721608"/>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Battery model</a:t>
            </a:r>
          </a:p>
        </p:txBody>
      </p:sp>
      <p:sp>
        <p:nvSpPr>
          <p:cNvPr id="34" name="Rounded Rectangle 33"/>
          <p:cNvSpPr/>
          <p:nvPr/>
        </p:nvSpPr>
        <p:spPr>
          <a:xfrm>
            <a:off x="6364224" y="4288536"/>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55664" y="4288536"/>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Docking controller</a:t>
            </a:r>
          </a:p>
        </p:txBody>
      </p:sp>
      <p:sp>
        <p:nvSpPr>
          <p:cNvPr id="36" name="Rounded Rectangle 35"/>
          <p:cNvSpPr/>
          <p:nvPr/>
        </p:nvSpPr>
        <p:spPr>
          <a:xfrm>
            <a:off x="8988552" y="1417320"/>
            <a:ext cx="2670048" cy="39776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88552" y="1417320"/>
            <a:ext cx="2670048"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71432" y="1645920"/>
            <a:ext cx="2304288" cy="411480"/>
          </a:xfrm>
          <a:prstGeom prst="rect">
            <a:avLst/>
          </a:prstGeom>
          <a:noFill/>
        </p:spPr>
        <p:txBody>
          <a:bodyPr wrap="square" anchor="ctr" lIns="0" rIns="0" tIns="0" bIns="0">
            <a:spAutoFit/>
          </a:bodyPr>
          <a:lstStyle/>
          <a:p>
            <a:pPr algn="l">
              <a:lnSpc>
                <a:spcPct val="100000"/>
              </a:lnSpc>
            </a:pPr>
            <a:r>
              <a:rPr sz="1700" b="1" i="0">
                <a:solidFill>
                  <a:srgbClr val="C0392B"/>
                </a:solidFill>
                <a:latin typeface="Calibri"/>
              </a:rPr>
              <a:t>Watching it</a:t>
            </a:r>
          </a:p>
        </p:txBody>
      </p:sp>
      <p:sp>
        <p:nvSpPr>
          <p:cNvPr id="39" name="TextBox 38"/>
          <p:cNvSpPr txBox="1"/>
          <p:nvPr/>
        </p:nvSpPr>
        <p:spPr>
          <a:xfrm>
            <a:off x="9171432" y="2103120"/>
            <a:ext cx="2304288" cy="960120"/>
          </a:xfrm>
          <a:prstGeom prst="rect">
            <a:avLst/>
          </a:prstGeom>
          <a:noFill/>
        </p:spPr>
        <p:txBody>
          <a:bodyPr wrap="square" anchor="t" lIns="0" rIns="0" tIns="0" bIns="0">
            <a:spAutoFit/>
          </a:bodyPr>
          <a:lstStyle/>
          <a:p>
            <a:pPr algn="l">
              <a:lnSpc>
                <a:spcPct val="100000"/>
              </a:lnSpc>
            </a:pPr>
            <a:r>
              <a:rPr sz="1200" b="0" i="0">
                <a:solidFill>
                  <a:srgbClr val="333D49"/>
                </a:solidFill>
                <a:latin typeface="Calibri"/>
              </a:rPr>
              <a:t>Windows and web pages so a human can see what is going on.</a:t>
            </a:r>
          </a:p>
        </p:txBody>
      </p:sp>
      <p:sp>
        <p:nvSpPr>
          <p:cNvPr id="40" name="Rounded Rectangle 39"/>
          <p:cNvSpPr/>
          <p:nvPr/>
        </p:nvSpPr>
        <p:spPr>
          <a:xfrm>
            <a:off x="9171432" y="3154680"/>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62872" y="3154680"/>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3D room window</a:t>
            </a:r>
          </a:p>
        </p:txBody>
      </p:sp>
      <p:sp>
        <p:nvSpPr>
          <p:cNvPr id="42" name="Rounded Rectangle 41"/>
          <p:cNvSpPr/>
          <p:nvPr/>
        </p:nvSpPr>
        <p:spPr>
          <a:xfrm>
            <a:off x="9171432" y="3721608"/>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62872" y="3721608"/>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Dashboard</a:t>
            </a:r>
          </a:p>
        </p:txBody>
      </p:sp>
      <p:sp>
        <p:nvSpPr>
          <p:cNvPr id="44" name="Rounded Rectangle 43"/>
          <p:cNvSpPr/>
          <p:nvPr/>
        </p:nvSpPr>
        <p:spPr>
          <a:xfrm>
            <a:off x="9171432" y="4288536"/>
            <a:ext cx="2304288" cy="47548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62872" y="4288536"/>
            <a:ext cx="2121408" cy="475488"/>
          </a:xfrm>
          <a:prstGeom prst="rect">
            <a:avLst/>
          </a:prstGeom>
          <a:noFill/>
        </p:spPr>
        <p:txBody>
          <a:bodyPr wrap="square" anchor="ctr" lIns="0" rIns="0" tIns="0" bIns="0">
            <a:spAutoFit/>
          </a:bodyPr>
          <a:lstStyle/>
          <a:p>
            <a:pPr algn="l">
              <a:lnSpc>
                <a:spcPct val="100000"/>
              </a:lnSpc>
            </a:pPr>
            <a:r>
              <a:rPr sz="1150" b="1" i="0">
                <a:solidFill>
                  <a:srgbClr val="142B50"/>
                </a:solidFill>
                <a:latin typeface="Calibri"/>
              </a:rPr>
              <a:t>Log files</a:t>
            </a:r>
          </a:p>
        </p:txBody>
      </p:sp>
      <p:sp>
        <p:nvSpPr>
          <p:cNvPr id="46" name="Rounded Rectangle 45"/>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Everything talks over 'ROS 2' — think of it as a postal service inside the robot that delivers messages between programs.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Nice numbers to remember</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The tuning that makes it work in practice</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11/16</a:t>
            </a:r>
          </a:p>
        </p:txBody>
      </p:sp>
      <p:sp>
        <p:nvSpPr>
          <p:cNvPr id="6" name="Rounded Rectangle 5"/>
          <p:cNvSpPr/>
          <p:nvPr/>
        </p:nvSpPr>
        <p:spPr>
          <a:xfrm>
            <a:off x="566928" y="1463040"/>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63040"/>
            <a:ext cx="68580" cy="5486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463040"/>
            <a:ext cx="1600200" cy="548640"/>
          </a:xfrm>
          <a:prstGeom prst="rect">
            <a:avLst/>
          </a:prstGeom>
          <a:noFill/>
        </p:spPr>
        <p:txBody>
          <a:bodyPr wrap="square" anchor="ctr" lIns="0" rIns="0" tIns="0" bIns="0">
            <a:spAutoFit/>
          </a:bodyPr>
          <a:lstStyle/>
          <a:p>
            <a:pPr algn="l">
              <a:lnSpc>
                <a:spcPct val="100000"/>
              </a:lnSpc>
            </a:pPr>
            <a:r>
              <a:rPr sz="1900" b="1" i="0">
                <a:solidFill>
                  <a:srgbClr val="1F6FB2"/>
                </a:solidFill>
                <a:latin typeface="Calibri"/>
              </a:rPr>
              <a:t>45 cm</a:t>
            </a:r>
          </a:p>
        </p:txBody>
      </p:sp>
      <p:sp>
        <p:nvSpPr>
          <p:cNvPr id="9" name="TextBox 8"/>
          <p:cNvSpPr txBox="1"/>
          <p:nvPr/>
        </p:nvSpPr>
        <p:spPr>
          <a:xfrm>
            <a:off x="2606040" y="1463040"/>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Cleaning strip width — how far apart the mowing lines are</a:t>
            </a:r>
          </a:p>
        </p:txBody>
      </p:sp>
      <p:sp>
        <p:nvSpPr>
          <p:cNvPr id="10" name="Rounded Rectangle 9"/>
          <p:cNvSpPr/>
          <p:nvPr/>
        </p:nvSpPr>
        <p:spPr>
          <a:xfrm>
            <a:off x="566928" y="2084832"/>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084832"/>
            <a:ext cx="68580" cy="54864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084832"/>
            <a:ext cx="1600200" cy="548640"/>
          </a:xfrm>
          <a:prstGeom prst="rect">
            <a:avLst/>
          </a:prstGeom>
          <a:noFill/>
        </p:spPr>
        <p:txBody>
          <a:bodyPr wrap="square" anchor="ctr" lIns="0" rIns="0" tIns="0" bIns="0">
            <a:spAutoFit/>
          </a:bodyPr>
          <a:lstStyle/>
          <a:p>
            <a:pPr algn="l">
              <a:lnSpc>
                <a:spcPct val="100000"/>
              </a:lnSpc>
            </a:pPr>
            <a:r>
              <a:rPr sz="1900" b="1" i="0">
                <a:solidFill>
                  <a:srgbClr val="E07B1B"/>
                </a:solidFill>
                <a:latin typeface="Calibri"/>
              </a:rPr>
              <a:t>40 %</a:t>
            </a:r>
          </a:p>
        </p:txBody>
      </p:sp>
      <p:sp>
        <p:nvSpPr>
          <p:cNvPr id="13" name="TextBox 12"/>
          <p:cNvSpPr txBox="1"/>
          <p:nvPr/>
        </p:nvSpPr>
        <p:spPr>
          <a:xfrm>
            <a:off x="2606040" y="2084832"/>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Battery level that sends the robot home</a:t>
            </a:r>
          </a:p>
        </p:txBody>
      </p:sp>
      <p:sp>
        <p:nvSpPr>
          <p:cNvPr id="14" name="Rounded Rectangle 13"/>
          <p:cNvSpPr/>
          <p:nvPr/>
        </p:nvSpPr>
        <p:spPr>
          <a:xfrm>
            <a:off x="566928" y="2706624"/>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706624"/>
            <a:ext cx="68580" cy="5486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706624"/>
            <a:ext cx="1600200" cy="548640"/>
          </a:xfrm>
          <a:prstGeom prst="rect">
            <a:avLst/>
          </a:prstGeom>
          <a:noFill/>
        </p:spPr>
        <p:txBody>
          <a:bodyPr wrap="square" anchor="ctr" lIns="0" rIns="0" tIns="0" bIns="0">
            <a:spAutoFit/>
          </a:bodyPr>
          <a:lstStyle/>
          <a:p>
            <a:pPr algn="l">
              <a:lnSpc>
                <a:spcPct val="100000"/>
              </a:lnSpc>
            </a:pPr>
            <a:r>
              <a:rPr sz="1900" b="1" i="0">
                <a:solidFill>
                  <a:srgbClr val="178F54"/>
                </a:solidFill>
                <a:latin typeface="Calibri"/>
              </a:rPr>
              <a:t>95 %</a:t>
            </a:r>
          </a:p>
        </p:txBody>
      </p:sp>
      <p:sp>
        <p:nvSpPr>
          <p:cNvPr id="17" name="TextBox 16"/>
          <p:cNvSpPr txBox="1"/>
          <p:nvPr/>
        </p:nvSpPr>
        <p:spPr>
          <a:xfrm>
            <a:off x="2606040" y="2706624"/>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Battery level at which it goes back to work</a:t>
            </a:r>
          </a:p>
        </p:txBody>
      </p:sp>
      <p:sp>
        <p:nvSpPr>
          <p:cNvPr id="18" name="Rounded Rectangle 17"/>
          <p:cNvSpPr/>
          <p:nvPr/>
        </p:nvSpPr>
        <p:spPr>
          <a:xfrm>
            <a:off x="566928" y="3328416"/>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328416"/>
            <a:ext cx="68580" cy="5486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328416"/>
            <a:ext cx="1600200" cy="548640"/>
          </a:xfrm>
          <a:prstGeom prst="rect">
            <a:avLst/>
          </a:prstGeom>
          <a:noFill/>
        </p:spPr>
        <p:txBody>
          <a:bodyPr wrap="square" anchor="ctr" lIns="0" rIns="0" tIns="0" bIns="0">
            <a:spAutoFit/>
          </a:bodyPr>
          <a:lstStyle/>
          <a:p>
            <a:pPr algn="l">
              <a:lnSpc>
                <a:spcPct val="100000"/>
              </a:lnSpc>
            </a:pPr>
            <a:r>
              <a:rPr sz="1900" b="1" i="0">
                <a:solidFill>
                  <a:srgbClr val="178F54"/>
                </a:solidFill>
                <a:latin typeface="Calibri"/>
              </a:rPr>
              <a:t>13 cm</a:t>
            </a:r>
          </a:p>
        </p:txBody>
      </p:sp>
      <p:sp>
        <p:nvSpPr>
          <p:cNvPr id="21" name="TextBox 20"/>
          <p:cNvSpPr txBox="1"/>
          <p:nvPr/>
        </p:nvSpPr>
        <p:spPr>
          <a:xfrm>
            <a:off x="2606040" y="3328416"/>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Distance to the dock that counts as 'parked'</a:t>
            </a:r>
          </a:p>
        </p:txBody>
      </p:sp>
      <p:sp>
        <p:nvSpPr>
          <p:cNvPr id="22" name="Rounded Rectangle 21"/>
          <p:cNvSpPr/>
          <p:nvPr/>
        </p:nvSpPr>
        <p:spPr>
          <a:xfrm>
            <a:off x="566928" y="3950208"/>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950208"/>
            <a:ext cx="68580" cy="5486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950208"/>
            <a:ext cx="1600200" cy="548640"/>
          </a:xfrm>
          <a:prstGeom prst="rect">
            <a:avLst/>
          </a:prstGeom>
          <a:noFill/>
        </p:spPr>
        <p:txBody>
          <a:bodyPr wrap="square" anchor="ctr" lIns="0" rIns="0" tIns="0" bIns="0">
            <a:spAutoFit/>
          </a:bodyPr>
          <a:lstStyle/>
          <a:p>
            <a:pPr algn="l">
              <a:lnSpc>
                <a:spcPct val="100000"/>
              </a:lnSpc>
            </a:pPr>
            <a:r>
              <a:rPr sz="1900" b="1" i="0">
                <a:solidFill>
                  <a:srgbClr val="1F6FB2"/>
                </a:solidFill>
                <a:latin typeface="Calibri"/>
              </a:rPr>
              <a:t>30 cm</a:t>
            </a:r>
          </a:p>
        </p:txBody>
      </p:sp>
      <p:sp>
        <p:nvSpPr>
          <p:cNvPr id="25" name="TextBox 24"/>
          <p:cNvSpPr txBox="1"/>
          <p:nvPr/>
        </p:nvSpPr>
        <p:spPr>
          <a:xfrm>
            <a:off x="2606040" y="3950208"/>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How close counts as 'arrived' — because maps are fuzzy</a:t>
            </a:r>
          </a:p>
        </p:txBody>
      </p:sp>
      <p:sp>
        <p:nvSpPr>
          <p:cNvPr id="26" name="Rounded Rectangle 25"/>
          <p:cNvSpPr/>
          <p:nvPr/>
        </p:nvSpPr>
        <p:spPr>
          <a:xfrm>
            <a:off x="566928" y="4572000"/>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572000"/>
            <a:ext cx="68580"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4572000"/>
            <a:ext cx="1600200" cy="548640"/>
          </a:xfrm>
          <a:prstGeom prst="rect">
            <a:avLst/>
          </a:prstGeom>
          <a:noFill/>
        </p:spPr>
        <p:txBody>
          <a:bodyPr wrap="square" anchor="ctr" lIns="0" rIns="0" tIns="0" bIns="0">
            <a:spAutoFit/>
          </a:bodyPr>
          <a:lstStyle/>
          <a:p>
            <a:pPr algn="l">
              <a:lnSpc>
                <a:spcPct val="100000"/>
              </a:lnSpc>
            </a:pPr>
            <a:r>
              <a:rPr sz="1900" b="1" i="0">
                <a:solidFill>
                  <a:srgbClr val="C0392B"/>
                </a:solidFill>
                <a:latin typeface="Calibri"/>
              </a:rPr>
              <a:t>15 s</a:t>
            </a:r>
          </a:p>
        </p:txBody>
      </p:sp>
      <p:sp>
        <p:nvSpPr>
          <p:cNvPr id="29" name="TextBox 28"/>
          <p:cNvSpPr txBox="1"/>
          <p:nvPr/>
        </p:nvSpPr>
        <p:spPr>
          <a:xfrm>
            <a:off x="2606040" y="4572000"/>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Silence that means 'stuck here', then it skips that spot</a:t>
            </a:r>
          </a:p>
        </p:txBody>
      </p:sp>
      <p:sp>
        <p:nvSpPr>
          <p:cNvPr id="30" name="Rounded Rectangle 29"/>
          <p:cNvSpPr/>
          <p:nvPr/>
        </p:nvSpPr>
        <p:spPr>
          <a:xfrm>
            <a:off x="566928" y="5193792"/>
            <a:ext cx="11064240" cy="5486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193792"/>
            <a:ext cx="68580"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5193792"/>
            <a:ext cx="1600200" cy="548640"/>
          </a:xfrm>
          <a:prstGeom prst="rect">
            <a:avLst/>
          </a:prstGeom>
          <a:noFill/>
        </p:spPr>
        <p:txBody>
          <a:bodyPr wrap="square" anchor="ctr" lIns="0" rIns="0" tIns="0" bIns="0">
            <a:spAutoFit/>
          </a:bodyPr>
          <a:lstStyle/>
          <a:p>
            <a:pPr algn="l">
              <a:lnSpc>
                <a:spcPct val="100000"/>
              </a:lnSpc>
            </a:pPr>
            <a:r>
              <a:rPr sz="1900" b="1" i="0">
                <a:solidFill>
                  <a:srgbClr val="C0392B"/>
                </a:solidFill>
                <a:latin typeface="Calibri"/>
              </a:rPr>
              <a:t>3</a:t>
            </a:r>
          </a:p>
        </p:txBody>
      </p:sp>
      <p:sp>
        <p:nvSpPr>
          <p:cNvPr id="33" name="TextBox 32"/>
          <p:cNvSpPr txBox="1"/>
          <p:nvPr/>
        </p:nvSpPr>
        <p:spPr>
          <a:xfrm>
            <a:off x="2606040" y="5193792"/>
            <a:ext cx="8778240" cy="54864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Babysitter layers watching for trouble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How to run it (one command)</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No expertise needed — the script cleans up and checks itself</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12/16</a:t>
            </a:r>
          </a:p>
        </p:txBody>
      </p:sp>
      <p:sp>
        <p:nvSpPr>
          <p:cNvPr id="6" name="Rounded Rectangle 5"/>
          <p:cNvSpPr/>
          <p:nvPr/>
        </p:nvSpPr>
        <p:spPr>
          <a:xfrm>
            <a:off x="566928" y="1371600"/>
            <a:ext cx="11064240" cy="868680"/>
          </a:xfrm>
          <a:prstGeom prst="roundRect">
            <a:avLst>
              <a:gd name="adj" fmla="val 12000"/>
            </a:avLst>
          </a:prstGeom>
          <a:solidFill>
            <a:srgbClr val="0E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71600"/>
            <a:ext cx="10469880" cy="868680"/>
          </a:xfrm>
          <a:prstGeom prst="rect">
            <a:avLst/>
          </a:prstGeom>
          <a:noFill/>
        </p:spPr>
        <p:txBody>
          <a:bodyPr wrap="square" anchor="ctr" lIns="0" rIns="0" tIns="0" bIns="0">
            <a:spAutoFit/>
          </a:bodyPr>
          <a:lstStyle/>
          <a:p>
            <a:pPr algn="l">
              <a:lnSpc>
                <a:spcPct val="100000"/>
              </a:lnSpc>
            </a:pPr>
            <a:r>
              <a:rPr sz="2600" b="1" i="0">
                <a:solidFill>
                  <a:srgbClr val="8FE3B0"/>
                </a:solidFill>
                <a:latin typeface="Consolas"/>
              </a:rPr>
              <a:t>./run_all.sh</a:t>
            </a:r>
          </a:p>
        </p:txBody>
      </p:sp>
      <p:sp>
        <p:nvSpPr>
          <p:cNvPr id="8" name="Rounded Rectangle 7"/>
          <p:cNvSpPr/>
          <p:nvPr/>
        </p:nvSpPr>
        <p:spPr>
          <a:xfrm>
            <a:off x="566928" y="2468880"/>
            <a:ext cx="11064240" cy="9601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68880"/>
            <a:ext cx="2377440" cy="960120"/>
          </a:xfrm>
          <a:prstGeom prst="rect">
            <a:avLst/>
          </a:prstGeom>
          <a:noFill/>
        </p:spPr>
        <p:txBody>
          <a:bodyPr wrap="square" anchor="ctr" lIns="0" rIns="0" tIns="0" bIns="0">
            <a:spAutoFit/>
          </a:bodyPr>
          <a:lstStyle/>
          <a:p>
            <a:pPr algn="l">
              <a:lnSpc>
                <a:spcPct val="100000"/>
              </a:lnSpc>
            </a:pPr>
            <a:r>
              <a:rPr sz="1600" b="1" i="0">
                <a:solidFill>
                  <a:srgbClr val="1F6FB2"/>
                </a:solidFill>
                <a:latin typeface="Calibri"/>
              </a:rPr>
              <a:t>1.  Cleans up</a:t>
            </a:r>
          </a:p>
        </p:txBody>
      </p:sp>
      <p:sp>
        <p:nvSpPr>
          <p:cNvPr id="10" name="TextBox 9"/>
          <p:cNvSpPr txBox="1"/>
          <p:nvPr/>
        </p:nvSpPr>
        <p:spPr>
          <a:xfrm>
            <a:off x="3429000" y="2468880"/>
            <a:ext cx="8001000" cy="96012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Closes anything left over from a previous run, so you never get two robots fighting.</a:t>
            </a:r>
          </a:p>
        </p:txBody>
      </p:sp>
      <p:sp>
        <p:nvSpPr>
          <p:cNvPr id="11" name="Rounded Rectangle 10"/>
          <p:cNvSpPr/>
          <p:nvPr/>
        </p:nvSpPr>
        <p:spPr>
          <a:xfrm>
            <a:off x="566928" y="3538728"/>
            <a:ext cx="11064240" cy="9601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538728"/>
            <a:ext cx="2377440" cy="960120"/>
          </a:xfrm>
          <a:prstGeom prst="rect">
            <a:avLst/>
          </a:prstGeom>
          <a:noFill/>
        </p:spPr>
        <p:txBody>
          <a:bodyPr wrap="square" anchor="ctr" lIns="0" rIns="0" tIns="0" bIns="0">
            <a:spAutoFit/>
          </a:bodyPr>
          <a:lstStyle/>
          <a:p>
            <a:pPr algn="l">
              <a:lnSpc>
                <a:spcPct val="100000"/>
              </a:lnSpc>
            </a:pPr>
            <a:r>
              <a:rPr sz="1600" b="1" i="0">
                <a:solidFill>
                  <a:srgbClr val="1F6FB2"/>
                </a:solidFill>
                <a:latin typeface="Calibri"/>
              </a:rPr>
              <a:t>2.  Starts everything</a:t>
            </a:r>
          </a:p>
        </p:txBody>
      </p:sp>
      <p:sp>
        <p:nvSpPr>
          <p:cNvPr id="13" name="TextBox 12"/>
          <p:cNvSpPr txBox="1"/>
          <p:nvPr/>
        </p:nvSpPr>
        <p:spPr>
          <a:xfrm>
            <a:off x="3429000" y="3538728"/>
            <a:ext cx="8001000" cy="96012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The room, the robot, the dashboard, the web view, the battery model and the babysitters.</a:t>
            </a:r>
          </a:p>
        </p:txBody>
      </p:sp>
      <p:sp>
        <p:nvSpPr>
          <p:cNvPr id="14" name="Rounded Rectangle 13"/>
          <p:cNvSpPr/>
          <p:nvPr/>
        </p:nvSpPr>
        <p:spPr>
          <a:xfrm>
            <a:off x="566928" y="4608576"/>
            <a:ext cx="11064240" cy="960120"/>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608576"/>
            <a:ext cx="2377440" cy="960120"/>
          </a:xfrm>
          <a:prstGeom prst="rect">
            <a:avLst/>
          </a:prstGeom>
          <a:noFill/>
        </p:spPr>
        <p:txBody>
          <a:bodyPr wrap="square" anchor="ctr" lIns="0" rIns="0" tIns="0" bIns="0">
            <a:spAutoFit/>
          </a:bodyPr>
          <a:lstStyle/>
          <a:p>
            <a:pPr algn="l">
              <a:lnSpc>
                <a:spcPct val="100000"/>
              </a:lnSpc>
            </a:pPr>
            <a:r>
              <a:rPr sz="1600" b="1" i="0">
                <a:solidFill>
                  <a:srgbClr val="1F6FB2"/>
                </a:solidFill>
                <a:latin typeface="Calibri"/>
              </a:rPr>
              <a:t>3.  Checks itself</a:t>
            </a:r>
          </a:p>
        </p:txBody>
      </p:sp>
      <p:sp>
        <p:nvSpPr>
          <p:cNvPr id="16" name="TextBox 15"/>
          <p:cNvSpPr txBox="1"/>
          <p:nvPr/>
        </p:nvSpPr>
        <p:spPr>
          <a:xfrm>
            <a:off x="3429000" y="4608576"/>
            <a:ext cx="8001000" cy="960120"/>
          </a:xfrm>
          <a:prstGeom prst="rect">
            <a:avLst/>
          </a:prstGeom>
          <a:noFill/>
        </p:spPr>
        <p:txBody>
          <a:bodyPr wrap="square" anchor="ctr" lIns="0" rIns="0" tIns="0" bIns="0">
            <a:spAutoFit/>
          </a:bodyPr>
          <a:lstStyle/>
          <a:p>
            <a:pPr algn="l">
              <a:lnSpc>
                <a:spcPct val="100000"/>
              </a:lnSpc>
            </a:pPr>
            <a:r>
              <a:rPr sz="1350" b="0" i="0">
                <a:solidFill>
                  <a:srgbClr val="333D49"/>
                </a:solidFill>
                <a:latin typeface="Calibri"/>
              </a:rPr>
              <a:t>Runs eight health checks and prints a tidy list. Look for eight green OK lines.</a:t>
            </a:r>
          </a:p>
        </p:txBody>
      </p:sp>
      <p:sp>
        <p:nvSpPr>
          <p:cNvPr id="17" name="Rectangle 16"/>
          <p:cNvSpPr/>
          <p:nvPr/>
        </p:nvSpPr>
        <p:spPr>
          <a:xfrm>
            <a:off x="566928" y="5742432"/>
            <a:ext cx="11064240" cy="45720"/>
          </a:xfrm>
          <a:prstGeom prst="rect">
            <a:avLst/>
          </a:prstGeom>
          <a:solidFill>
            <a:srgbClr val="D3D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870448"/>
            <a:ext cx="11064240" cy="365760"/>
          </a:xfrm>
          <a:prstGeom prst="rect">
            <a:avLst/>
          </a:prstGeom>
          <a:noFill/>
        </p:spPr>
        <p:txBody>
          <a:bodyPr wrap="square" anchor="ctr" lIns="0" rIns="0" tIns="0" bIns="0">
            <a:spAutoFit/>
          </a:bodyPr>
          <a:lstStyle/>
          <a:p>
            <a:pPr algn="ctr">
              <a:lnSpc>
                <a:spcPct val="100000"/>
              </a:lnSpc>
            </a:pPr>
            <a:r>
              <a:rPr sz="1300" b="0" i="1">
                <a:solidFill>
                  <a:srgbClr val="5A6472"/>
                </a:solidFill>
                <a:latin typeface="Calibri"/>
              </a:rPr>
              <a:t>Stop it with:  ./run_all.sh --stop        Check it again with:  ./run_all.sh --verify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What you actually see</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Three windows, one story</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13/16</a:t>
            </a:r>
          </a:p>
        </p:txBody>
      </p:sp>
      <p:sp>
        <p:nvSpPr>
          <p:cNvPr id="6" name="Rounded Rectangle 5"/>
          <p:cNvSpPr/>
          <p:nvPr/>
        </p:nvSpPr>
        <p:spPr>
          <a:xfrm>
            <a:off x="566928" y="1417320"/>
            <a:ext cx="2670048" cy="37490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417320"/>
            <a:ext cx="2670048"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27632"/>
            <a:ext cx="2304288" cy="457200"/>
          </a:xfrm>
          <a:prstGeom prst="rect">
            <a:avLst/>
          </a:prstGeom>
          <a:noFill/>
        </p:spPr>
        <p:txBody>
          <a:bodyPr wrap="square" anchor="ctr" lIns="0" rIns="0" tIns="0" bIns="0">
            <a:spAutoFit/>
          </a:bodyPr>
          <a:lstStyle/>
          <a:p>
            <a:pPr algn="l">
              <a:lnSpc>
                <a:spcPct val="100000"/>
              </a:lnSpc>
            </a:pPr>
            <a:r>
              <a:rPr sz="1700" b="1" i="0">
                <a:solidFill>
                  <a:srgbClr val="1F6FB2"/>
                </a:solidFill>
                <a:latin typeface="Calibri"/>
              </a:rPr>
              <a:t>The 3D room</a:t>
            </a:r>
          </a:p>
        </p:txBody>
      </p:sp>
      <p:sp>
        <p:nvSpPr>
          <p:cNvPr id="9" name="TextBox 8"/>
          <p:cNvSpPr txBox="1"/>
          <p:nvPr/>
        </p:nvSpPr>
        <p:spPr>
          <a:xfrm>
            <a:off x="749808" y="2148840"/>
            <a:ext cx="2304288" cy="1828800"/>
          </a:xfrm>
          <a:prstGeom prst="rect">
            <a:avLst/>
          </a:prstGeom>
          <a:noFill/>
        </p:spPr>
        <p:txBody>
          <a:bodyPr wrap="square" anchor="t" lIns="0" rIns="0" tIns="0" bIns="0">
            <a:spAutoFit/>
          </a:bodyPr>
          <a:lstStyle/>
          <a:p>
            <a:pPr algn="l">
              <a:lnSpc>
                <a:spcPct val="100000"/>
              </a:lnSpc>
            </a:pPr>
            <a:r>
              <a:rPr sz="1250" b="0" i="0">
                <a:solidFill>
                  <a:srgbClr val="333D49"/>
                </a:solidFill>
                <a:latin typeface="Calibri"/>
              </a:rPr>
              <a:t>The robot driving around the furniture in a physical simulation. Watch it sweep the room in strips.</a:t>
            </a:r>
          </a:p>
        </p:txBody>
      </p:sp>
      <p:sp>
        <p:nvSpPr>
          <p:cNvPr id="10" name="Rounded Rectangle 9"/>
          <p:cNvSpPr/>
          <p:nvPr/>
        </p:nvSpPr>
        <p:spPr>
          <a:xfrm>
            <a:off x="749808" y="4224528"/>
            <a:ext cx="2304288" cy="7772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4224528"/>
            <a:ext cx="2121408" cy="77724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Gazebo window</a:t>
            </a:r>
          </a:p>
        </p:txBody>
      </p:sp>
      <p:sp>
        <p:nvSpPr>
          <p:cNvPr id="12" name="Rounded Rectangle 11"/>
          <p:cNvSpPr/>
          <p:nvPr/>
        </p:nvSpPr>
        <p:spPr>
          <a:xfrm>
            <a:off x="3374136" y="1417320"/>
            <a:ext cx="2670048" cy="37490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4136" y="1417320"/>
            <a:ext cx="2670048" cy="91440"/>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57016" y="1627632"/>
            <a:ext cx="2304288" cy="457200"/>
          </a:xfrm>
          <a:prstGeom prst="rect">
            <a:avLst/>
          </a:prstGeom>
          <a:noFill/>
        </p:spPr>
        <p:txBody>
          <a:bodyPr wrap="square" anchor="ctr" lIns="0" rIns="0" tIns="0" bIns="0">
            <a:spAutoFit/>
          </a:bodyPr>
          <a:lstStyle/>
          <a:p>
            <a:pPr algn="l">
              <a:lnSpc>
                <a:spcPct val="100000"/>
              </a:lnSpc>
            </a:pPr>
            <a:r>
              <a:rPr sz="1700" b="1" i="0">
                <a:solidFill>
                  <a:srgbClr val="178F54"/>
                </a:solidFill>
                <a:latin typeface="Calibri"/>
              </a:rPr>
              <a:t>The robot's dashboard</a:t>
            </a:r>
          </a:p>
        </p:txBody>
      </p:sp>
      <p:sp>
        <p:nvSpPr>
          <p:cNvPr id="15" name="TextBox 14"/>
          <p:cNvSpPr txBox="1"/>
          <p:nvPr/>
        </p:nvSpPr>
        <p:spPr>
          <a:xfrm>
            <a:off x="3557016" y="2148840"/>
            <a:ext cx="2304288" cy="1828800"/>
          </a:xfrm>
          <a:prstGeom prst="rect">
            <a:avLst/>
          </a:prstGeom>
          <a:noFill/>
        </p:spPr>
        <p:txBody>
          <a:bodyPr wrap="square" anchor="t" lIns="0" rIns="0" tIns="0" bIns="0">
            <a:spAutoFit/>
          </a:bodyPr>
          <a:lstStyle/>
          <a:p>
            <a:pPr algn="l">
              <a:lnSpc>
                <a:spcPct val="100000"/>
              </a:lnSpc>
            </a:pPr>
            <a:r>
              <a:rPr sz="1250" b="0" i="0">
                <a:solidFill>
                  <a:srgbClr val="333D49"/>
                </a:solidFill>
                <a:latin typeface="Calibri"/>
              </a:rPr>
              <a:t>Live map, laser dots, planned route, robot position. The engineer's view.</a:t>
            </a:r>
          </a:p>
        </p:txBody>
      </p:sp>
      <p:sp>
        <p:nvSpPr>
          <p:cNvPr id="16" name="Rounded Rectangle 15"/>
          <p:cNvSpPr/>
          <p:nvPr/>
        </p:nvSpPr>
        <p:spPr>
          <a:xfrm>
            <a:off x="3557016" y="4224528"/>
            <a:ext cx="2304288" cy="7772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48456" y="4224528"/>
            <a:ext cx="2121408" cy="77724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RViz window</a:t>
            </a:r>
          </a:p>
        </p:txBody>
      </p:sp>
      <p:sp>
        <p:nvSpPr>
          <p:cNvPr id="18" name="Rounded Rectangle 17"/>
          <p:cNvSpPr/>
          <p:nvPr/>
        </p:nvSpPr>
        <p:spPr>
          <a:xfrm>
            <a:off x="6181344" y="1417320"/>
            <a:ext cx="2670048" cy="37490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417320"/>
            <a:ext cx="2670048" cy="91440"/>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4224" y="1627632"/>
            <a:ext cx="2304288" cy="457200"/>
          </a:xfrm>
          <a:prstGeom prst="rect">
            <a:avLst/>
          </a:prstGeom>
          <a:noFill/>
        </p:spPr>
        <p:txBody>
          <a:bodyPr wrap="square" anchor="ctr" lIns="0" rIns="0" tIns="0" bIns="0">
            <a:spAutoFit/>
          </a:bodyPr>
          <a:lstStyle/>
          <a:p>
            <a:pPr algn="l">
              <a:lnSpc>
                <a:spcPct val="100000"/>
              </a:lnSpc>
            </a:pPr>
            <a:r>
              <a:rPr sz="1700" b="1" i="0">
                <a:solidFill>
                  <a:srgbClr val="E07B1B"/>
                </a:solidFill>
                <a:latin typeface="Calibri"/>
              </a:rPr>
              <a:t>The web view</a:t>
            </a:r>
          </a:p>
        </p:txBody>
      </p:sp>
      <p:sp>
        <p:nvSpPr>
          <p:cNvPr id="21" name="TextBox 20"/>
          <p:cNvSpPr txBox="1"/>
          <p:nvPr/>
        </p:nvSpPr>
        <p:spPr>
          <a:xfrm>
            <a:off x="6364224" y="2148840"/>
            <a:ext cx="2304288" cy="1828800"/>
          </a:xfrm>
          <a:prstGeom prst="rect">
            <a:avLst/>
          </a:prstGeom>
          <a:noFill/>
        </p:spPr>
        <p:txBody>
          <a:bodyPr wrap="square" anchor="t" lIns="0" rIns="0" tIns="0" bIns="0">
            <a:spAutoFit/>
          </a:bodyPr>
          <a:lstStyle/>
          <a:p>
            <a:pPr algn="l">
              <a:lnSpc>
                <a:spcPct val="100000"/>
              </a:lnSpc>
            </a:pPr>
            <a:r>
              <a:rPr sz="1250" b="0" i="0">
                <a:solidFill>
                  <a:srgbClr val="333D49"/>
                </a:solidFill>
                <a:latin typeface="Calibri"/>
              </a:rPr>
              <a:t>The same information in a browser tab, useful for showing other people on their own screen.</a:t>
            </a:r>
          </a:p>
        </p:txBody>
      </p:sp>
      <p:sp>
        <p:nvSpPr>
          <p:cNvPr id="22" name="Rounded Rectangle 21"/>
          <p:cNvSpPr/>
          <p:nvPr/>
        </p:nvSpPr>
        <p:spPr>
          <a:xfrm>
            <a:off x="6364224" y="4224528"/>
            <a:ext cx="2304288" cy="7772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5664" y="4224528"/>
            <a:ext cx="2121408" cy="77724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app.foxglove.dev + ws://localhost:8765</a:t>
            </a:r>
          </a:p>
        </p:txBody>
      </p:sp>
      <p:sp>
        <p:nvSpPr>
          <p:cNvPr id="24" name="Rounded Rectangle 23"/>
          <p:cNvSpPr/>
          <p:nvPr/>
        </p:nvSpPr>
        <p:spPr>
          <a:xfrm>
            <a:off x="8988552" y="1417320"/>
            <a:ext cx="2670048" cy="3749039"/>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88552" y="1417320"/>
            <a:ext cx="2670048" cy="914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71432" y="1627632"/>
            <a:ext cx="2304288" cy="457200"/>
          </a:xfrm>
          <a:prstGeom prst="rect">
            <a:avLst/>
          </a:prstGeom>
          <a:noFill/>
        </p:spPr>
        <p:txBody>
          <a:bodyPr wrap="square" anchor="ctr" lIns="0" rIns="0" tIns="0" bIns="0">
            <a:spAutoFit/>
          </a:bodyPr>
          <a:lstStyle/>
          <a:p>
            <a:pPr algn="l">
              <a:lnSpc>
                <a:spcPct val="100000"/>
              </a:lnSpc>
            </a:pPr>
            <a:r>
              <a:rPr sz="1700" b="1" i="0">
                <a:solidFill>
                  <a:srgbClr val="C0392B"/>
                </a:solidFill>
                <a:latin typeface="Calibri"/>
              </a:rPr>
              <a:t>The logs</a:t>
            </a:r>
          </a:p>
        </p:txBody>
      </p:sp>
      <p:sp>
        <p:nvSpPr>
          <p:cNvPr id="27" name="TextBox 26"/>
          <p:cNvSpPr txBox="1"/>
          <p:nvPr/>
        </p:nvSpPr>
        <p:spPr>
          <a:xfrm>
            <a:off x="9171432" y="2148840"/>
            <a:ext cx="2304288" cy="1828800"/>
          </a:xfrm>
          <a:prstGeom prst="rect">
            <a:avLst/>
          </a:prstGeom>
          <a:noFill/>
        </p:spPr>
        <p:txBody>
          <a:bodyPr wrap="square" anchor="t" lIns="0" rIns="0" tIns="0" bIns="0">
            <a:spAutoFit/>
          </a:bodyPr>
          <a:lstStyle/>
          <a:p>
            <a:pPr algn="l">
              <a:lnSpc>
                <a:spcPct val="100000"/>
              </a:lnSpc>
            </a:pPr>
            <a:r>
              <a:rPr sz="1250" b="0" i="0">
                <a:solidFill>
                  <a:srgbClr val="333D49"/>
                </a:solidFill>
                <a:latin typeface="Calibri"/>
              </a:rPr>
              <a:t>Text files quietly recording every decision: what it cleaned, when it charged, what went wrong.</a:t>
            </a:r>
          </a:p>
        </p:txBody>
      </p:sp>
      <p:sp>
        <p:nvSpPr>
          <p:cNvPr id="28" name="Rounded Rectangle 27"/>
          <p:cNvSpPr/>
          <p:nvPr/>
        </p:nvSpPr>
        <p:spPr>
          <a:xfrm>
            <a:off x="9171432" y="4224528"/>
            <a:ext cx="2304288" cy="777240"/>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62872" y="4224528"/>
            <a:ext cx="2121408" cy="77724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/tmp/opencode/*.log</a:t>
            </a:r>
          </a:p>
        </p:txBody>
      </p:sp>
      <p:sp>
        <p:nvSpPr>
          <p:cNvPr id="30" name="Rounded Rectangle 29"/>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A full cycle — clean, park, charge, resume — takes a few minutes when the battery is sped up for a demo.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The tricky parts (and how they were solved)</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Honest list — these are the things that actually broke</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14/16</a:t>
            </a:r>
          </a:p>
        </p:txBody>
      </p:sp>
      <p:sp>
        <p:nvSpPr>
          <p:cNvPr id="6" name="Rounded Rectangle 5"/>
          <p:cNvSpPr/>
          <p:nvPr/>
        </p:nvSpPr>
        <p:spPr>
          <a:xfrm>
            <a:off x="566928" y="1700784"/>
            <a:ext cx="11064240" cy="78638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700784"/>
            <a:ext cx="6858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773936"/>
            <a:ext cx="3291840" cy="640080"/>
          </a:xfrm>
          <a:prstGeom prst="rect">
            <a:avLst/>
          </a:prstGeom>
          <a:noFill/>
        </p:spPr>
        <p:txBody>
          <a:bodyPr wrap="square" anchor="ctr" lIns="0" rIns="0" tIns="0" bIns="0">
            <a:spAutoFit/>
          </a:bodyPr>
          <a:lstStyle/>
          <a:p>
            <a:pPr algn="l">
              <a:lnSpc>
                <a:spcPct val="100000"/>
              </a:lnSpc>
            </a:pPr>
            <a:r>
              <a:rPr sz="1200" b="1" i="0">
                <a:solidFill>
                  <a:srgbClr val="C0392B"/>
                </a:solidFill>
                <a:latin typeface="Calibri"/>
              </a:rPr>
              <a:t>The robot would not move at all</a:t>
            </a:r>
          </a:p>
        </p:txBody>
      </p:sp>
      <p:sp>
        <p:nvSpPr>
          <p:cNvPr id="9" name="TextBox 8"/>
          <p:cNvSpPr txBox="1"/>
          <p:nvPr/>
        </p:nvSpPr>
        <p:spPr>
          <a:xfrm>
            <a:off x="4251960" y="1773936"/>
            <a:ext cx="3474720" cy="64008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Two programs disagreed about the message format for the wheels.</a:t>
            </a:r>
          </a:p>
        </p:txBody>
      </p:sp>
      <p:sp>
        <p:nvSpPr>
          <p:cNvPr id="10" name="TextBox 9"/>
          <p:cNvSpPr txBox="1"/>
          <p:nvPr/>
        </p:nvSpPr>
        <p:spPr>
          <a:xfrm>
            <a:off x="7863840" y="1773936"/>
            <a:ext cx="3611880" cy="640080"/>
          </a:xfrm>
          <a:prstGeom prst="rect">
            <a:avLst/>
          </a:prstGeom>
          <a:noFill/>
        </p:spPr>
        <p:txBody>
          <a:bodyPr wrap="square" anchor="ctr" lIns="0" rIns="0" tIns="0" bIns="0">
            <a:spAutoFit/>
          </a:bodyPr>
          <a:lstStyle/>
          <a:p>
            <a:pPr algn="l">
              <a:lnSpc>
                <a:spcPct val="100000"/>
              </a:lnSpc>
            </a:pPr>
            <a:r>
              <a:rPr sz="1050" b="1" i="0">
                <a:solidFill>
                  <a:srgbClr val="178F54"/>
                </a:solidFill>
                <a:latin typeface="Calibri"/>
              </a:rPr>
              <a:t>Make every program speak the same plain format.</a:t>
            </a:r>
          </a:p>
        </p:txBody>
      </p:sp>
      <p:sp>
        <p:nvSpPr>
          <p:cNvPr id="11" name="Rounded Rectangle 10"/>
          <p:cNvSpPr/>
          <p:nvPr/>
        </p:nvSpPr>
        <p:spPr>
          <a:xfrm>
            <a:off x="566928" y="2523744"/>
            <a:ext cx="11064240" cy="78638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523744"/>
            <a:ext cx="6858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96896"/>
            <a:ext cx="3291840" cy="640080"/>
          </a:xfrm>
          <a:prstGeom prst="rect">
            <a:avLst/>
          </a:prstGeom>
          <a:noFill/>
        </p:spPr>
        <p:txBody>
          <a:bodyPr wrap="square" anchor="ctr" lIns="0" rIns="0" tIns="0" bIns="0">
            <a:spAutoFit/>
          </a:bodyPr>
          <a:lstStyle/>
          <a:p>
            <a:pPr algn="l">
              <a:lnSpc>
                <a:spcPct val="100000"/>
              </a:lnSpc>
            </a:pPr>
            <a:r>
              <a:rPr sz="1200" b="1" i="0">
                <a:solidFill>
                  <a:srgbClr val="C0392B"/>
                </a:solidFill>
                <a:latin typeface="Calibri"/>
              </a:rPr>
              <a:t>It aimed at the sofa</a:t>
            </a:r>
          </a:p>
        </p:txBody>
      </p:sp>
      <p:sp>
        <p:nvSpPr>
          <p:cNvPr id="14" name="TextBox 13"/>
          <p:cNvSpPr txBox="1"/>
          <p:nvPr/>
        </p:nvSpPr>
        <p:spPr>
          <a:xfrm>
            <a:off x="4251960" y="2596896"/>
            <a:ext cx="3474720" cy="64008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The map sometimes says furniture is 'unknown', not 'blocked'.</a:t>
            </a:r>
          </a:p>
        </p:txBody>
      </p:sp>
      <p:sp>
        <p:nvSpPr>
          <p:cNvPr id="15" name="TextBox 14"/>
          <p:cNvSpPr txBox="1"/>
          <p:nvPr/>
        </p:nvSpPr>
        <p:spPr>
          <a:xfrm>
            <a:off x="7863840" y="2596896"/>
            <a:ext cx="3611880" cy="640080"/>
          </a:xfrm>
          <a:prstGeom prst="rect">
            <a:avLst/>
          </a:prstGeom>
          <a:noFill/>
        </p:spPr>
        <p:txBody>
          <a:bodyPr wrap="square" anchor="ctr" lIns="0" rIns="0" tIns="0" bIns="0">
            <a:spAutoFit/>
          </a:bodyPr>
          <a:lstStyle/>
          <a:p>
            <a:pPr algn="l">
              <a:lnSpc>
                <a:spcPct val="100000"/>
              </a:lnSpc>
            </a:pPr>
            <a:r>
              <a:rPr sz="1050" b="1" i="0">
                <a:solidFill>
                  <a:srgbClr val="178F54"/>
                </a:solidFill>
                <a:latin typeface="Calibri"/>
              </a:rPr>
              <a:t>Ban known furniture as a destination, and re-check each spot before driving.</a:t>
            </a:r>
          </a:p>
        </p:txBody>
      </p:sp>
      <p:sp>
        <p:nvSpPr>
          <p:cNvPr id="16" name="Rounded Rectangle 15"/>
          <p:cNvSpPr/>
          <p:nvPr/>
        </p:nvSpPr>
        <p:spPr>
          <a:xfrm>
            <a:off x="566928" y="3346704"/>
            <a:ext cx="11064240" cy="78638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6928" y="3346704"/>
            <a:ext cx="6858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419856"/>
            <a:ext cx="3291840" cy="640080"/>
          </a:xfrm>
          <a:prstGeom prst="rect">
            <a:avLst/>
          </a:prstGeom>
          <a:noFill/>
        </p:spPr>
        <p:txBody>
          <a:bodyPr wrap="square" anchor="ctr" lIns="0" rIns="0" tIns="0" bIns="0">
            <a:spAutoFit/>
          </a:bodyPr>
          <a:lstStyle/>
          <a:p>
            <a:pPr algn="l">
              <a:lnSpc>
                <a:spcPct val="100000"/>
              </a:lnSpc>
            </a:pPr>
            <a:r>
              <a:rPr sz="1200" b="1" i="0">
                <a:solidFill>
                  <a:srgbClr val="C0392B"/>
                </a:solidFill>
                <a:latin typeface="Calibri"/>
              </a:rPr>
              <a:t>It froze next to the table</a:t>
            </a:r>
          </a:p>
        </p:txBody>
      </p:sp>
      <p:sp>
        <p:nvSpPr>
          <p:cNvPr id="19" name="TextBox 18"/>
          <p:cNvSpPr txBox="1"/>
          <p:nvPr/>
        </p:nvSpPr>
        <p:spPr>
          <a:xfrm>
            <a:off x="4251960" y="3419856"/>
            <a:ext cx="3474720" cy="64008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The steering algorithm can give up near a goal, silently outputting zero.</a:t>
            </a:r>
          </a:p>
        </p:txBody>
      </p:sp>
      <p:sp>
        <p:nvSpPr>
          <p:cNvPr id="20" name="TextBox 19"/>
          <p:cNvSpPr txBox="1"/>
          <p:nvPr/>
        </p:nvSpPr>
        <p:spPr>
          <a:xfrm>
            <a:off x="7863840" y="3419856"/>
            <a:ext cx="3611880" cy="640080"/>
          </a:xfrm>
          <a:prstGeom prst="rect">
            <a:avLst/>
          </a:prstGeom>
          <a:noFill/>
        </p:spPr>
        <p:txBody>
          <a:bodyPr wrap="square" anchor="ctr" lIns="0" rIns="0" tIns="0" bIns="0">
            <a:spAutoFit/>
          </a:bodyPr>
          <a:lstStyle/>
          <a:p>
            <a:pPr algn="l">
              <a:lnSpc>
                <a:spcPct val="100000"/>
              </a:lnSpc>
            </a:pPr>
            <a:r>
              <a:rPr sz="1050" b="1" i="0">
                <a:solidFill>
                  <a:srgbClr val="178F54"/>
                </a:solidFill>
                <a:latin typeface="Calibri"/>
              </a:rPr>
              <a:t>Detect 15 s of silence, skip that spot, move on.</a:t>
            </a:r>
          </a:p>
        </p:txBody>
      </p:sp>
      <p:sp>
        <p:nvSpPr>
          <p:cNvPr id="21" name="Rounded Rectangle 20"/>
          <p:cNvSpPr/>
          <p:nvPr/>
        </p:nvSpPr>
        <p:spPr>
          <a:xfrm>
            <a:off x="566928" y="4169664"/>
            <a:ext cx="11064240" cy="78638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169664"/>
            <a:ext cx="6858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 y="4242816"/>
            <a:ext cx="3291840" cy="640080"/>
          </a:xfrm>
          <a:prstGeom prst="rect">
            <a:avLst/>
          </a:prstGeom>
          <a:noFill/>
        </p:spPr>
        <p:txBody>
          <a:bodyPr wrap="square" anchor="ctr" lIns="0" rIns="0" tIns="0" bIns="0">
            <a:spAutoFit/>
          </a:bodyPr>
          <a:lstStyle/>
          <a:p>
            <a:pPr algn="l">
              <a:lnSpc>
                <a:spcPct val="100000"/>
              </a:lnSpc>
            </a:pPr>
            <a:r>
              <a:rPr sz="1200" b="1" i="0">
                <a:solidFill>
                  <a:srgbClr val="C0392B"/>
                </a:solidFill>
                <a:latin typeface="Calibri"/>
              </a:rPr>
              <a:t>It got 'stuck' forever at the dock</a:t>
            </a:r>
          </a:p>
        </p:txBody>
      </p:sp>
      <p:sp>
        <p:nvSpPr>
          <p:cNvPr id="24" name="TextBox 23"/>
          <p:cNvSpPr txBox="1"/>
          <p:nvPr/>
        </p:nvSpPr>
        <p:spPr>
          <a:xfrm>
            <a:off x="4251960" y="4242816"/>
            <a:ext cx="3474720" cy="64008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A safety rule stopped the robot and then stopped talking to it.</a:t>
            </a:r>
          </a:p>
        </p:txBody>
      </p:sp>
      <p:sp>
        <p:nvSpPr>
          <p:cNvPr id="25" name="TextBox 24"/>
          <p:cNvSpPr txBox="1"/>
          <p:nvPr/>
        </p:nvSpPr>
        <p:spPr>
          <a:xfrm>
            <a:off x="7863840" y="4242816"/>
            <a:ext cx="3611880" cy="640080"/>
          </a:xfrm>
          <a:prstGeom prst="rect">
            <a:avLst/>
          </a:prstGeom>
          <a:noFill/>
        </p:spPr>
        <p:txBody>
          <a:bodyPr wrap="square" anchor="ctr" lIns="0" rIns="0" tIns="0" bIns="0">
            <a:spAutoFit/>
          </a:bodyPr>
          <a:lstStyle/>
          <a:p>
            <a:pPr algn="l">
              <a:lnSpc>
                <a:spcPct val="100000"/>
              </a:lnSpc>
            </a:pPr>
            <a:r>
              <a:rPr sz="1050" b="1" i="0">
                <a:solidFill>
                  <a:srgbClr val="178F54"/>
                </a:solidFill>
                <a:latin typeface="Calibri"/>
              </a:rPr>
              <a:t>Replace the hard stop with a slow-down rule.</a:t>
            </a:r>
          </a:p>
        </p:txBody>
      </p:sp>
      <p:sp>
        <p:nvSpPr>
          <p:cNvPr id="26" name="Rounded Rectangle 25"/>
          <p:cNvSpPr/>
          <p:nvPr/>
        </p:nvSpPr>
        <p:spPr>
          <a:xfrm>
            <a:off x="566928" y="4992624"/>
            <a:ext cx="11064240" cy="78638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4992624"/>
            <a:ext cx="68580"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 y="5065776"/>
            <a:ext cx="3291840" cy="640080"/>
          </a:xfrm>
          <a:prstGeom prst="rect">
            <a:avLst/>
          </a:prstGeom>
          <a:noFill/>
        </p:spPr>
        <p:txBody>
          <a:bodyPr wrap="square" anchor="ctr" lIns="0" rIns="0" tIns="0" bIns="0">
            <a:spAutoFit/>
          </a:bodyPr>
          <a:lstStyle/>
          <a:p>
            <a:pPr algn="l">
              <a:lnSpc>
                <a:spcPct val="100000"/>
              </a:lnSpc>
            </a:pPr>
            <a:r>
              <a:rPr sz="1200" b="1" i="0">
                <a:solidFill>
                  <a:srgbClr val="C0392B"/>
                </a:solidFill>
                <a:latin typeface="Calibri"/>
              </a:rPr>
              <a:t>After docking, the map was wrong</a:t>
            </a:r>
          </a:p>
        </p:txBody>
      </p:sp>
      <p:sp>
        <p:nvSpPr>
          <p:cNvPr id="29" name="TextBox 28"/>
          <p:cNvSpPr txBox="1"/>
          <p:nvPr/>
        </p:nvSpPr>
        <p:spPr>
          <a:xfrm>
            <a:off x="4251960" y="5065776"/>
            <a:ext cx="3474720" cy="640080"/>
          </a:xfrm>
          <a:prstGeom prst="rect">
            <a:avLst/>
          </a:prstGeom>
          <a:noFill/>
        </p:spPr>
        <p:txBody>
          <a:bodyPr wrap="square" anchor="ctr" lIns="0" rIns="0" tIns="0" bIns="0">
            <a:spAutoFit/>
          </a:bodyPr>
          <a:lstStyle/>
          <a:p>
            <a:pPr algn="l">
              <a:lnSpc>
                <a:spcPct val="100000"/>
              </a:lnSpc>
            </a:pPr>
            <a:r>
              <a:rPr sz="1050" b="0" i="0">
                <a:solidFill>
                  <a:srgbClr val="5A6472"/>
                </a:solidFill>
                <a:latin typeface="Calibri"/>
              </a:rPr>
              <a:t>The mapping update needs movement; the undock move was slightly too short.</a:t>
            </a:r>
          </a:p>
        </p:txBody>
      </p:sp>
      <p:sp>
        <p:nvSpPr>
          <p:cNvPr id="30" name="TextBox 29"/>
          <p:cNvSpPr txBox="1"/>
          <p:nvPr/>
        </p:nvSpPr>
        <p:spPr>
          <a:xfrm>
            <a:off x="7863840" y="5065776"/>
            <a:ext cx="3611880" cy="640080"/>
          </a:xfrm>
          <a:prstGeom prst="rect">
            <a:avLst/>
          </a:prstGeom>
          <a:noFill/>
        </p:spPr>
        <p:txBody>
          <a:bodyPr wrap="square" anchor="ctr" lIns="0" rIns="0" tIns="0" bIns="0">
            <a:spAutoFit/>
          </a:bodyPr>
          <a:lstStyle/>
          <a:p>
            <a:pPr algn="l">
              <a:lnSpc>
                <a:spcPct val="100000"/>
              </a:lnSpc>
            </a:pPr>
            <a:r>
              <a:rPr sz="1050" b="1" i="0">
                <a:solidFill>
                  <a:srgbClr val="178F54"/>
                </a:solidFill>
                <a:latin typeface="Calibri"/>
              </a:rPr>
              <a:t>Lower the movement needed to update the map.</a:t>
            </a:r>
          </a:p>
        </p:txBody>
      </p:sp>
      <p:sp>
        <p:nvSpPr>
          <p:cNvPr id="31" name="TextBox 30"/>
          <p:cNvSpPr txBox="1"/>
          <p:nvPr/>
        </p:nvSpPr>
        <p:spPr>
          <a:xfrm>
            <a:off x="566928" y="1133856"/>
            <a:ext cx="3931920" cy="274320"/>
          </a:xfrm>
          <a:prstGeom prst="rect">
            <a:avLst/>
          </a:prstGeom>
          <a:noFill/>
        </p:spPr>
        <p:txBody>
          <a:bodyPr wrap="square" anchor="ctr" lIns="0" rIns="0" tIns="0" bIns="0">
            <a:spAutoFit/>
          </a:bodyPr>
          <a:lstStyle/>
          <a:p>
            <a:pPr algn="l">
              <a:lnSpc>
                <a:spcPct val="100000"/>
              </a:lnSpc>
            </a:pPr>
            <a:r>
              <a:rPr sz="1100" b="1" i="0">
                <a:solidFill>
                  <a:srgbClr val="C0392B"/>
                </a:solidFill>
                <a:latin typeface="Calibri"/>
              </a:rPr>
              <a:t>symptom</a:t>
            </a:r>
          </a:p>
        </p:txBody>
      </p:sp>
      <p:sp>
        <p:nvSpPr>
          <p:cNvPr id="32" name="TextBox 31"/>
          <p:cNvSpPr txBox="1"/>
          <p:nvPr/>
        </p:nvSpPr>
        <p:spPr>
          <a:xfrm>
            <a:off x="4251960" y="1133856"/>
            <a:ext cx="3931920" cy="274320"/>
          </a:xfrm>
          <a:prstGeom prst="rect">
            <a:avLst/>
          </a:prstGeom>
          <a:noFill/>
        </p:spPr>
        <p:txBody>
          <a:bodyPr wrap="square" anchor="ctr" lIns="0" rIns="0" tIns="0" bIns="0">
            <a:spAutoFit/>
          </a:bodyPr>
          <a:lstStyle/>
          <a:p>
            <a:pPr algn="l">
              <a:lnSpc>
                <a:spcPct val="100000"/>
              </a:lnSpc>
            </a:pPr>
            <a:r>
              <a:rPr sz="1100" b="1" i="0">
                <a:solidFill>
                  <a:srgbClr val="5A6472"/>
                </a:solidFill>
                <a:latin typeface="Calibri"/>
              </a:rPr>
              <a:t>real cause</a:t>
            </a:r>
          </a:p>
        </p:txBody>
      </p:sp>
      <p:sp>
        <p:nvSpPr>
          <p:cNvPr id="33" name="TextBox 32"/>
          <p:cNvSpPr txBox="1"/>
          <p:nvPr/>
        </p:nvSpPr>
        <p:spPr>
          <a:xfrm>
            <a:off x="7863840" y="1133856"/>
            <a:ext cx="3931920" cy="274320"/>
          </a:xfrm>
          <a:prstGeom prst="rect">
            <a:avLst/>
          </a:prstGeom>
          <a:noFill/>
        </p:spPr>
        <p:txBody>
          <a:bodyPr wrap="square" anchor="ctr" lIns="0" rIns="0" tIns="0" bIns="0">
            <a:spAutoFit/>
          </a:bodyPr>
          <a:lstStyle/>
          <a:p>
            <a:pPr algn="l">
              <a:lnSpc>
                <a:spcPct val="100000"/>
              </a:lnSpc>
            </a:pPr>
            <a:r>
              <a:rPr sz="1100" b="1" i="0">
                <a:solidFill>
                  <a:srgbClr val="178F54"/>
                </a:solidFill>
                <a:latin typeface="Calibri"/>
              </a:rPr>
              <a:t>fix</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74320"/>
            <a:ext cx="9692640" cy="566928"/>
          </a:xfrm>
          <a:prstGeom prst="rect">
            <a:avLst/>
          </a:prstGeom>
          <a:noFill/>
        </p:spPr>
        <p:txBody>
          <a:bodyPr wrap="square" anchor="ctr" lIns="0" rIns="0" tIns="0" bIns="0">
            <a:spAutoFit/>
          </a:bodyPr>
          <a:lstStyle/>
          <a:p>
            <a:pPr algn="l">
              <a:lnSpc>
                <a:spcPct val="100000"/>
              </a:lnSpc>
            </a:pPr>
            <a:r>
              <a:rPr sz="3000" b="1" i="0">
                <a:solidFill>
                  <a:srgbClr val="142B50"/>
                </a:solidFill>
                <a:latin typeface="Calibri"/>
              </a:rPr>
              <a:t>What is next</a:t>
            </a:r>
          </a:p>
        </p:txBody>
      </p:sp>
      <p:sp>
        <p:nvSpPr>
          <p:cNvPr id="4" name="TextBox 3"/>
          <p:cNvSpPr txBox="1"/>
          <p:nvPr/>
        </p:nvSpPr>
        <p:spPr>
          <a:xfrm>
            <a:off x="585216" y="841248"/>
            <a:ext cx="10515600" cy="329184"/>
          </a:xfrm>
          <a:prstGeom prst="rect">
            <a:avLst/>
          </a:prstGeom>
          <a:noFill/>
        </p:spPr>
        <p:txBody>
          <a:bodyPr wrap="square" anchor="ctr" lIns="0" rIns="0" tIns="0" bIns="0">
            <a:spAutoFit/>
          </a:bodyPr>
          <a:lstStyle/>
          <a:p>
            <a:pPr algn="l">
              <a:lnSpc>
                <a:spcPct val="100000"/>
              </a:lnSpc>
            </a:pPr>
            <a:r>
              <a:rPr sz="1400" b="0" i="1">
                <a:solidFill>
                  <a:srgbClr val="5A6472"/>
                </a:solidFill>
                <a:latin typeface="Calibri"/>
              </a:rPr>
              <a:t>Clear, honest roadmap</a:t>
            </a:r>
          </a:p>
        </p:txBody>
      </p:sp>
      <p:sp>
        <p:nvSpPr>
          <p:cNvPr id="5" name="TextBox 4"/>
          <p:cNvSpPr txBox="1"/>
          <p:nvPr/>
        </p:nvSpPr>
        <p:spPr>
          <a:xfrm>
            <a:off x="11201400" y="6327648"/>
            <a:ext cx="777240" cy="274320"/>
          </a:xfrm>
          <a:prstGeom prst="rect">
            <a:avLst/>
          </a:prstGeom>
          <a:noFill/>
        </p:spPr>
        <p:txBody>
          <a:bodyPr wrap="square" anchor="ctr" lIns="0" rIns="0" tIns="0" bIns="0">
            <a:spAutoFit/>
          </a:bodyPr>
          <a:lstStyle/>
          <a:p>
            <a:pPr algn="r">
              <a:lnSpc>
                <a:spcPct val="100000"/>
              </a:lnSpc>
            </a:pPr>
            <a:r>
              <a:rPr sz="1100" b="0" i="0">
                <a:solidFill>
                  <a:srgbClr val="5A6472"/>
                </a:solidFill>
                <a:latin typeface="Calibri"/>
              </a:rPr>
              <a:t>15/16</a:t>
            </a:r>
          </a:p>
        </p:txBody>
      </p:sp>
      <p:sp>
        <p:nvSpPr>
          <p:cNvPr id="6" name="Rounded Rectangle 5"/>
          <p:cNvSpPr/>
          <p:nvPr/>
        </p:nvSpPr>
        <p:spPr>
          <a:xfrm>
            <a:off x="566928" y="1517904"/>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517904"/>
            <a:ext cx="68580" cy="19751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664208"/>
            <a:ext cx="221284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Clean better</a:t>
            </a:r>
          </a:p>
        </p:txBody>
      </p:sp>
      <p:sp>
        <p:nvSpPr>
          <p:cNvPr id="9" name="TextBox 8"/>
          <p:cNvSpPr txBox="1"/>
          <p:nvPr/>
        </p:nvSpPr>
        <p:spPr>
          <a:xfrm>
            <a:off x="804672" y="2176272"/>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Dwell longer on dirty spots and re-plan as the map fills in.</a:t>
            </a:r>
          </a:p>
        </p:txBody>
      </p:sp>
      <p:sp>
        <p:nvSpPr>
          <p:cNvPr id="10" name="Rounded Rectangle 9"/>
          <p:cNvSpPr/>
          <p:nvPr/>
        </p:nvSpPr>
        <p:spPr>
          <a:xfrm>
            <a:off x="3374136" y="1517904"/>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74136" y="1517904"/>
            <a:ext cx="68580" cy="1975104"/>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1664208"/>
            <a:ext cx="2212848" cy="365760"/>
          </a:xfrm>
          <a:prstGeom prst="rect">
            <a:avLst/>
          </a:prstGeom>
          <a:noFill/>
        </p:spPr>
        <p:txBody>
          <a:bodyPr wrap="square" anchor="t" lIns="0" rIns="0" tIns="0" bIns="0">
            <a:spAutoFit/>
          </a:bodyPr>
          <a:lstStyle/>
          <a:p>
            <a:pPr algn="l">
              <a:lnSpc>
                <a:spcPct val="100000"/>
              </a:lnSpc>
            </a:pPr>
            <a:r>
              <a:rPr sz="1500" b="1" i="0">
                <a:solidFill>
                  <a:srgbClr val="178F54"/>
                </a:solidFill>
                <a:latin typeface="Calibri"/>
              </a:rPr>
              <a:t>Handle several rooms</a:t>
            </a:r>
          </a:p>
        </p:txBody>
      </p:sp>
      <p:sp>
        <p:nvSpPr>
          <p:cNvPr id="13" name="TextBox 12"/>
          <p:cNvSpPr txBox="1"/>
          <p:nvPr/>
        </p:nvSpPr>
        <p:spPr>
          <a:xfrm>
            <a:off x="3611880" y="2176272"/>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Split a home into rooms and clean them one by one.</a:t>
            </a:r>
          </a:p>
        </p:txBody>
      </p:sp>
      <p:sp>
        <p:nvSpPr>
          <p:cNvPr id="14" name="Rounded Rectangle 13"/>
          <p:cNvSpPr/>
          <p:nvPr/>
        </p:nvSpPr>
        <p:spPr>
          <a:xfrm>
            <a:off x="6181344" y="1517904"/>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1517904"/>
            <a:ext cx="68580" cy="1975104"/>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664208"/>
            <a:ext cx="2212848" cy="365760"/>
          </a:xfrm>
          <a:prstGeom prst="rect">
            <a:avLst/>
          </a:prstGeom>
          <a:noFill/>
        </p:spPr>
        <p:txBody>
          <a:bodyPr wrap="square" anchor="t" lIns="0" rIns="0" tIns="0" bIns="0">
            <a:spAutoFit/>
          </a:bodyPr>
          <a:lstStyle/>
          <a:p>
            <a:pPr algn="l">
              <a:lnSpc>
                <a:spcPct val="100000"/>
              </a:lnSpc>
            </a:pPr>
            <a:r>
              <a:rPr sz="1500" b="1" i="0">
                <a:solidFill>
                  <a:srgbClr val="E07B1B"/>
                </a:solidFill>
                <a:latin typeface="Calibri"/>
              </a:rPr>
              <a:t>Smarter docking</a:t>
            </a:r>
          </a:p>
        </p:txBody>
      </p:sp>
      <p:sp>
        <p:nvSpPr>
          <p:cNvPr id="17" name="TextBox 16"/>
          <p:cNvSpPr txBox="1"/>
          <p:nvPr/>
        </p:nvSpPr>
        <p:spPr>
          <a:xfrm>
            <a:off x="6419088" y="2176272"/>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Use a visual marker for millimetre-accurate parking.</a:t>
            </a:r>
          </a:p>
        </p:txBody>
      </p:sp>
      <p:sp>
        <p:nvSpPr>
          <p:cNvPr id="18" name="Rounded Rectangle 17"/>
          <p:cNvSpPr/>
          <p:nvPr/>
        </p:nvSpPr>
        <p:spPr>
          <a:xfrm>
            <a:off x="566928" y="3639312"/>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6928" y="3639312"/>
            <a:ext cx="68580" cy="19751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785616"/>
            <a:ext cx="2212848" cy="365760"/>
          </a:xfrm>
          <a:prstGeom prst="rect">
            <a:avLst/>
          </a:prstGeom>
          <a:noFill/>
        </p:spPr>
        <p:txBody>
          <a:bodyPr wrap="square" anchor="t" lIns="0" rIns="0" tIns="0" bIns="0">
            <a:spAutoFit/>
          </a:bodyPr>
          <a:lstStyle/>
          <a:p>
            <a:pPr algn="l">
              <a:lnSpc>
                <a:spcPct val="100000"/>
              </a:lnSpc>
            </a:pPr>
            <a:r>
              <a:rPr sz="1500" b="1" i="0">
                <a:solidFill>
                  <a:srgbClr val="1F6FB2"/>
                </a:solidFill>
                <a:latin typeface="Calibri"/>
              </a:rPr>
              <a:t>Smoother odometry</a:t>
            </a:r>
          </a:p>
        </p:txBody>
      </p:sp>
      <p:sp>
        <p:nvSpPr>
          <p:cNvPr id="21" name="TextBox 20"/>
          <p:cNvSpPr txBox="1"/>
          <p:nvPr/>
        </p:nvSpPr>
        <p:spPr>
          <a:xfrm>
            <a:off x="804672" y="4297680"/>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Combine wheel and sensor data so the map drifts less.</a:t>
            </a:r>
          </a:p>
        </p:txBody>
      </p:sp>
      <p:sp>
        <p:nvSpPr>
          <p:cNvPr id="22" name="Rounded Rectangle 21"/>
          <p:cNvSpPr/>
          <p:nvPr/>
        </p:nvSpPr>
        <p:spPr>
          <a:xfrm>
            <a:off x="3374136" y="3639312"/>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74136" y="3639312"/>
            <a:ext cx="68580" cy="1975104"/>
          </a:xfrm>
          <a:prstGeom prst="rect">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11880" y="3785616"/>
            <a:ext cx="2212848" cy="365760"/>
          </a:xfrm>
          <a:prstGeom prst="rect">
            <a:avLst/>
          </a:prstGeom>
          <a:noFill/>
        </p:spPr>
        <p:txBody>
          <a:bodyPr wrap="square" anchor="t" lIns="0" rIns="0" tIns="0" bIns="0">
            <a:spAutoFit/>
          </a:bodyPr>
          <a:lstStyle/>
          <a:p>
            <a:pPr algn="l">
              <a:lnSpc>
                <a:spcPct val="100000"/>
              </a:lnSpc>
            </a:pPr>
            <a:r>
              <a:rPr sz="1500" b="1" i="0">
                <a:solidFill>
                  <a:srgbClr val="178F54"/>
                </a:solidFill>
                <a:latin typeface="Calibri"/>
              </a:rPr>
              <a:t>Automatic testing</a:t>
            </a:r>
          </a:p>
        </p:txBody>
      </p:sp>
      <p:sp>
        <p:nvSpPr>
          <p:cNvPr id="25" name="TextBox 24"/>
          <p:cNvSpPr txBox="1"/>
          <p:nvPr/>
        </p:nvSpPr>
        <p:spPr>
          <a:xfrm>
            <a:off x="3611880" y="4297680"/>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Run the whole simulation automatically on every change, so nothing breaks quietly.</a:t>
            </a:r>
          </a:p>
        </p:txBody>
      </p:sp>
      <p:sp>
        <p:nvSpPr>
          <p:cNvPr id="26" name="Rounded Rectangle 25"/>
          <p:cNvSpPr/>
          <p:nvPr/>
        </p:nvSpPr>
        <p:spPr>
          <a:xfrm>
            <a:off x="6181344" y="3639312"/>
            <a:ext cx="2670048" cy="1975104"/>
          </a:xfrm>
          <a:prstGeom prst="roundRect">
            <a:avLst>
              <a:gd name="adj" fmla="val 12000"/>
            </a:avLst>
          </a:prstGeom>
          <a:solidFill>
            <a:srgbClr val="FFFFFF"/>
          </a:solidFill>
          <a:ln w="15875">
            <a:solidFill>
              <a:srgbClr val="D3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1344" y="3639312"/>
            <a:ext cx="68580" cy="1975104"/>
          </a:xfrm>
          <a:prstGeom prst="rect">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3785616"/>
            <a:ext cx="2212848" cy="365760"/>
          </a:xfrm>
          <a:prstGeom prst="rect">
            <a:avLst/>
          </a:prstGeom>
          <a:noFill/>
        </p:spPr>
        <p:txBody>
          <a:bodyPr wrap="square" anchor="t" lIns="0" rIns="0" tIns="0" bIns="0">
            <a:spAutoFit/>
          </a:bodyPr>
          <a:lstStyle/>
          <a:p>
            <a:pPr algn="l">
              <a:lnSpc>
                <a:spcPct val="100000"/>
              </a:lnSpc>
            </a:pPr>
            <a:r>
              <a:rPr sz="1500" b="1" i="0">
                <a:solidFill>
                  <a:srgbClr val="E07B1B"/>
                </a:solidFill>
                <a:latin typeface="Calibri"/>
              </a:rPr>
              <a:t>Run on real hardware</a:t>
            </a:r>
          </a:p>
        </p:txBody>
      </p:sp>
      <p:sp>
        <p:nvSpPr>
          <p:cNvPr id="29" name="TextBox 28"/>
          <p:cNvSpPr txBox="1"/>
          <p:nvPr/>
        </p:nvSpPr>
        <p:spPr>
          <a:xfrm>
            <a:off x="6419088" y="4297680"/>
            <a:ext cx="2212848" cy="1188720"/>
          </a:xfrm>
          <a:prstGeom prst="rect">
            <a:avLst/>
          </a:prstGeom>
          <a:noFill/>
        </p:spPr>
        <p:txBody>
          <a:bodyPr wrap="square" anchor="t" lIns="0" rIns="0" tIns="0" bIns="0">
            <a:spAutoFit/>
          </a:bodyPr>
          <a:lstStyle/>
          <a:p>
            <a:pPr algn="l">
              <a:lnSpc>
                <a:spcPct val="105000"/>
              </a:lnSpc>
            </a:pPr>
            <a:r>
              <a:rPr sz="1250" b="0" i="0">
                <a:solidFill>
                  <a:srgbClr val="333D49"/>
                </a:solidFill>
                <a:latin typeface="Calibri"/>
              </a:rPr>
              <a:t>The same software already supports a real TurtleBot3 — finish validating it.</a:t>
            </a:r>
          </a:p>
        </p:txBody>
      </p:sp>
      <p:sp>
        <p:nvSpPr>
          <p:cNvPr id="30" name="Rounded Rectangle 29"/>
          <p:cNvSpPr/>
          <p:nvPr/>
        </p:nvSpPr>
        <p:spPr>
          <a:xfrm>
            <a:off x="566928" y="5870448"/>
            <a:ext cx="10497312" cy="566928"/>
          </a:xfrm>
          <a:prstGeom prst="roundRect">
            <a:avLst>
              <a:gd name="adj" fmla="val 12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870448"/>
            <a:ext cx="10058400" cy="566928"/>
          </a:xfrm>
          <a:prstGeom prst="rect">
            <a:avLst/>
          </a:prstGeom>
          <a:noFill/>
        </p:spPr>
        <p:txBody>
          <a:bodyPr wrap="square" anchor="ctr" lIns="0" rIns="0" tIns="0" bIns="0">
            <a:spAutoFit/>
          </a:bodyPr>
          <a:lstStyle/>
          <a:p>
            <a:pPr algn="l">
              <a:lnSpc>
                <a:spcPct val="100000"/>
              </a:lnSpc>
            </a:pPr>
            <a:r>
              <a:rPr sz="1350" b="1" i="0">
                <a:solidFill>
                  <a:srgbClr val="142B50"/>
                </a:solidFill>
                <a:latin typeface="Calibri"/>
              </a:rPr>
              <a:t>None of this changes the core idea: map it, clean it, charge itself, repeat.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731520"/>
            <a:ext cx="10241280" cy="640080"/>
          </a:xfrm>
          <a:prstGeom prst="rect">
            <a:avLst/>
          </a:prstGeom>
          <a:noFill/>
        </p:spPr>
        <p:txBody>
          <a:bodyPr wrap="square" anchor="ctr" lIns="0" rIns="0" tIns="0" bIns="0">
            <a:spAutoFit/>
          </a:bodyPr>
          <a:lstStyle/>
          <a:p>
            <a:pPr algn="l">
              <a:lnSpc>
                <a:spcPct val="100000"/>
              </a:lnSpc>
            </a:pPr>
            <a:r>
              <a:rPr sz="3400" b="1" i="0">
                <a:solidFill>
                  <a:srgbClr val="FFFFFF"/>
                </a:solidFill>
                <a:latin typeface="Calibri"/>
              </a:rPr>
              <a:t>Three things to remember</a:t>
            </a:r>
          </a:p>
        </p:txBody>
      </p:sp>
      <p:sp>
        <p:nvSpPr>
          <p:cNvPr id="4" name="Rounded Rectangle 3"/>
          <p:cNvSpPr/>
          <p:nvPr/>
        </p:nvSpPr>
        <p:spPr>
          <a:xfrm>
            <a:off x="960120" y="1874519"/>
            <a:ext cx="10241280" cy="1170432"/>
          </a:xfrm>
          <a:prstGeom prst="roundRect">
            <a:avLst>
              <a:gd name="adj" fmla="val 12000"/>
            </a:avLst>
          </a:prstGeom>
          <a:solidFill>
            <a:srgbClr val="1D3A66"/>
          </a:solidFill>
          <a:ln w="15875">
            <a:solidFill>
              <a:srgbClr val="2E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07008" y="2148839"/>
            <a:ext cx="621792" cy="621792"/>
          </a:xfrm>
          <a:prstGeom prst="ellipse">
            <a:avLst/>
          </a:prstGeom>
          <a:solidFill>
            <a:srgbClr val="178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07008" y="2148839"/>
            <a:ext cx="621792" cy="621792"/>
          </a:xfrm>
          <a:prstGeom prst="rect">
            <a:avLst/>
          </a:prstGeom>
          <a:noFill/>
        </p:spPr>
        <p:txBody>
          <a:bodyPr wrap="square" anchor="ctr" lIns="0" rIns="0" tIns="0" bIns="0">
            <a:spAutoFit/>
          </a:bodyPr>
          <a:lstStyle/>
          <a:p>
            <a:pPr algn="ctr">
              <a:lnSpc>
                <a:spcPct val="100000"/>
              </a:lnSpc>
            </a:pPr>
            <a:r>
              <a:rPr sz="2200" b="1" i="0">
                <a:solidFill>
                  <a:srgbClr val="FFFFFF"/>
                </a:solidFill>
                <a:latin typeface="Calibri"/>
              </a:rPr>
              <a:t>1</a:t>
            </a:r>
          </a:p>
        </p:txBody>
      </p:sp>
      <p:sp>
        <p:nvSpPr>
          <p:cNvPr id="7" name="TextBox 6"/>
          <p:cNvSpPr txBox="1"/>
          <p:nvPr/>
        </p:nvSpPr>
        <p:spPr>
          <a:xfrm>
            <a:off x="2057400" y="2002535"/>
            <a:ext cx="8869680" cy="457200"/>
          </a:xfrm>
          <a:prstGeom prst="rect">
            <a:avLst/>
          </a:prstGeom>
          <a:noFill/>
        </p:spPr>
        <p:txBody>
          <a:bodyPr wrap="square" anchor="ctr" lIns="0" rIns="0" tIns="0" bIns="0">
            <a:spAutoFit/>
          </a:bodyPr>
          <a:lstStyle/>
          <a:p>
            <a:pPr algn="l">
              <a:lnSpc>
                <a:spcPct val="100000"/>
              </a:lnSpc>
            </a:pPr>
            <a:r>
              <a:rPr sz="1900" b="1" i="0">
                <a:solidFill>
                  <a:srgbClr val="FFFFFF"/>
                </a:solidFill>
                <a:latin typeface="Calibri"/>
              </a:rPr>
              <a:t>It figures out the room itself</a:t>
            </a:r>
          </a:p>
        </p:txBody>
      </p:sp>
      <p:sp>
        <p:nvSpPr>
          <p:cNvPr id="8" name="TextBox 7"/>
          <p:cNvSpPr txBox="1"/>
          <p:nvPr/>
        </p:nvSpPr>
        <p:spPr>
          <a:xfrm>
            <a:off x="2057400" y="2478023"/>
            <a:ext cx="8869680" cy="457200"/>
          </a:xfrm>
          <a:prstGeom prst="rect">
            <a:avLst/>
          </a:prstGeom>
          <a:noFill/>
        </p:spPr>
        <p:txBody>
          <a:bodyPr wrap="square" anchor="ctr" lIns="0" rIns="0" tIns="0" bIns="0">
            <a:spAutoFit/>
          </a:bodyPr>
          <a:lstStyle/>
          <a:p>
            <a:pPr algn="l">
              <a:lnSpc>
                <a:spcPct val="100000"/>
              </a:lnSpc>
            </a:pPr>
            <a:r>
              <a:rPr sz="1400" b="0" i="0">
                <a:solidFill>
                  <a:srgbClr val="B6CBE6"/>
                </a:solidFill>
                <a:latin typeface="Calibri"/>
              </a:rPr>
              <a:t>No map is given to it. It drives, looks, and builds its own plan.</a:t>
            </a:r>
          </a:p>
        </p:txBody>
      </p:sp>
      <p:sp>
        <p:nvSpPr>
          <p:cNvPr id="9" name="Rounded Rectangle 8"/>
          <p:cNvSpPr/>
          <p:nvPr/>
        </p:nvSpPr>
        <p:spPr>
          <a:xfrm>
            <a:off x="960120" y="3191255"/>
            <a:ext cx="10241280" cy="1170432"/>
          </a:xfrm>
          <a:prstGeom prst="roundRect">
            <a:avLst>
              <a:gd name="adj" fmla="val 12000"/>
            </a:avLst>
          </a:prstGeom>
          <a:solidFill>
            <a:srgbClr val="1D3A66"/>
          </a:solidFill>
          <a:ln w="15875">
            <a:solidFill>
              <a:srgbClr val="2E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07008" y="3465575"/>
            <a:ext cx="621792" cy="621792"/>
          </a:xfrm>
          <a:prstGeom prst="ellipse">
            <a:avLst/>
          </a:prstGeom>
          <a:solidFill>
            <a:srgbClr val="E07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3465575"/>
            <a:ext cx="621792" cy="621792"/>
          </a:xfrm>
          <a:prstGeom prst="rect">
            <a:avLst/>
          </a:prstGeom>
          <a:noFill/>
        </p:spPr>
        <p:txBody>
          <a:bodyPr wrap="square" anchor="ctr" lIns="0" rIns="0" tIns="0" bIns="0">
            <a:spAutoFit/>
          </a:bodyPr>
          <a:lstStyle/>
          <a:p>
            <a:pPr algn="ctr">
              <a:lnSpc>
                <a:spcPct val="100000"/>
              </a:lnSpc>
            </a:pPr>
            <a:r>
              <a:rPr sz="2200" b="1" i="0">
                <a:solidFill>
                  <a:srgbClr val="FFFFFF"/>
                </a:solidFill>
                <a:latin typeface="Calibri"/>
              </a:rPr>
              <a:t>2</a:t>
            </a:r>
          </a:p>
        </p:txBody>
      </p:sp>
      <p:sp>
        <p:nvSpPr>
          <p:cNvPr id="12" name="TextBox 11"/>
          <p:cNvSpPr txBox="1"/>
          <p:nvPr/>
        </p:nvSpPr>
        <p:spPr>
          <a:xfrm>
            <a:off x="2057400" y="3319271"/>
            <a:ext cx="8869680" cy="457200"/>
          </a:xfrm>
          <a:prstGeom prst="rect">
            <a:avLst/>
          </a:prstGeom>
          <a:noFill/>
        </p:spPr>
        <p:txBody>
          <a:bodyPr wrap="square" anchor="ctr" lIns="0" rIns="0" tIns="0" bIns="0">
            <a:spAutoFit/>
          </a:bodyPr>
          <a:lstStyle/>
          <a:p>
            <a:pPr algn="l">
              <a:lnSpc>
                <a:spcPct val="100000"/>
              </a:lnSpc>
            </a:pPr>
            <a:r>
              <a:rPr sz="1900" b="1" i="0">
                <a:solidFill>
                  <a:srgbClr val="FFFFFF"/>
                </a:solidFill>
                <a:latin typeface="Calibri"/>
              </a:rPr>
              <a:t>It takes care of itself</a:t>
            </a:r>
          </a:p>
        </p:txBody>
      </p:sp>
      <p:sp>
        <p:nvSpPr>
          <p:cNvPr id="13" name="TextBox 12"/>
          <p:cNvSpPr txBox="1"/>
          <p:nvPr/>
        </p:nvSpPr>
        <p:spPr>
          <a:xfrm>
            <a:off x="2057400" y="3794759"/>
            <a:ext cx="8869680" cy="457200"/>
          </a:xfrm>
          <a:prstGeom prst="rect">
            <a:avLst/>
          </a:prstGeom>
          <a:noFill/>
        </p:spPr>
        <p:txBody>
          <a:bodyPr wrap="square" anchor="ctr" lIns="0" rIns="0" tIns="0" bIns="0">
            <a:spAutoFit/>
          </a:bodyPr>
          <a:lstStyle/>
          <a:p>
            <a:pPr algn="l">
              <a:lnSpc>
                <a:spcPct val="100000"/>
              </a:lnSpc>
            </a:pPr>
            <a:r>
              <a:rPr sz="1400" b="0" i="0">
                <a:solidFill>
                  <a:srgbClr val="B6CBE6"/>
                </a:solidFill>
                <a:latin typeface="Calibri"/>
              </a:rPr>
              <a:t>Watches its battery, parks, charges, and gets back to work without help.</a:t>
            </a:r>
          </a:p>
        </p:txBody>
      </p:sp>
      <p:sp>
        <p:nvSpPr>
          <p:cNvPr id="14" name="Rounded Rectangle 13"/>
          <p:cNvSpPr/>
          <p:nvPr/>
        </p:nvSpPr>
        <p:spPr>
          <a:xfrm>
            <a:off x="960120" y="4507991"/>
            <a:ext cx="10241280" cy="1170432"/>
          </a:xfrm>
          <a:prstGeom prst="roundRect">
            <a:avLst>
              <a:gd name="adj" fmla="val 12000"/>
            </a:avLst>
          </a:prstGeom>
          <a:solidFill>
            <a:srgbClr val="1D3A66"/>
          </a:solidFill>
          <a:ln w="15875">
            <a:solidFill>
              <a:srgbClr val="2E55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207008" y="4782311"/>
            <a:ext cx="621792" cy="621792"/>
          </a:xfrm>
          <a:prstGeom prst="ellipse">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07008" y="4782311"/>
            <a:ext cx="621792" cy="621792"/>
          </a:xfrm>
          <a:prstGeom prst="rect">
            <a:avLst/>
          </a:prstGeom>
          <a:noFill/>
        </p:spPr>
        <p:txBody>
          <a:bodyPr wrap="square" anchor="ctr" lIns="0" rIns="0" tIns="0" bIns="0">
            <a:spAutoFit/>
          </a:bodyPr>
          <a:lstStyle/>
          <a:p>
            <a:pPr algn="ctr">
              <a:lnSpc>
                <a:spcPct val="100000"/>
              </a:lnSpc>
            </a:pPr>
            <a:r>
              <a:rPr sz="2200" b="1" i="0">
                <a:solidFill>
                  <a:srgbClr val="FFFFFF"/>
                </a:solidFill>
                <a:latin typeface="Calibri"/>
              </a:rPr>
              <a:t>3</a:t>
            </a:r>
          </a:p>
        </p:txBody>
      </p:sp>
      <p:sp>
        <p:nvSpPr>
          <p:cNvPr id="17" name="TextBox 16"/>
          <p:cNvSpPr txBox="1"/>
          <p:nvPr/>
        </p:nvSpPr>
        <p:spPr>
          <a:xfrm>
            <a:off x="2057400" y="4636007"/>
            <a:ext cx="8869680" cy="457200"/>
          </a:xfrm>
          <a:prstGeom prst="rect">
            <a:avLst/>
          </a:prstGeom>
          <a:noFill/>
        </p:spPr>
        <p:txBody>
          <a:bodyPr wrap="square" anchor="ctr" lIns="0" rIns="0" tIns="0" bIns="0">
            <a:spAutoFit/>
          </a:bodyPr>
          <a:lstStyle/>
          <a:p>
            <a:pPr algn="l">
              <a:lnSpc>
                <a:spcPct val="100000"/>
              </a:lnSpc>
            </a:pPr>
            <a:r>
              <a:rPr sz="1900" b="1" i="0">
                <a:solidFill>
                  <a:srgbClr val="FFFFFF"/>
                </a:solidFill>
                <a:latin typeface="Calibri"/>
              </a:rPr>
              <a:t>It cannot get permanently stuck</a:t>
            </a:r>
          </a:p>
        </p:txBody>
      </p:sp>
      <p:sp>
        <p:nvSpPr>
          <p:cNvPr id="18" name="TextBox 17"/>
          <p:cNvSpPr txBox="1"/>
          <p:nvPr/>
        </p:nvSpPr>
        <p:spPr>
          <a:xfrm>
            <a:off x="2057400" y="5111495"/>
            <a:ext cx="8869680" cy="457200"/>
          </a:xfrm>
          <a:prstGeom prst="rect">
            <a:avLst/>
          </a:prstGeom>
          <a:noFill/>
        </p:spPr>
        <p:txBody>
          <a:bodyPr wrap="square" anchor="ctr" lIns="0" rIns="0" tIns="0" bIns="0">
            <a:spAutoFit/>
          </a:bodyPr>
          <a:lstStyle/>
          <a:p>
            <a:pPr algn="l">
              <a:lnSpc>
                <a:spcPct val="100000"/>
              </a:lnSpc>
            </a:pPr>
            <a:r>
              <a:rPr sz="1400" b="0" i="0">
                <a:solidFill>
                  <a:srgbClr val="B6CBE6"/>
                </a:solidFill>
                <a:latin typeface="Calibri"/>
              </a:rPr>
              <a:t>Three layers of watchdogs notice problems and fix them automatically.</a:t>
            </a:r>
          </a:p>
        </p:txBody>
      </p:sp>
      <p:sp>
        <p:nvSpPr>
          <p:cNvPr id="19" name="TextBox 18"/>
          <p:cNvSpPr txBox="1"/>
          <p:nvPr/>
        </p:nvSpPr>
        <p:spPr>
          <a:xfrm>
            <a:off x="960120" y="5989320"/>
            <a:ext cx="10241280" cy="457200"/>
          </a:xfrm>
          <a:prstGeom prst="rect">
            <a:avLst/>
          </a:prstGeom>
          <a:noFill/>
        </p:spPr>
        <p:txBody>
          <a:bodyPr wrap="square" anchor="ctr" lIns="0" rIns="0" tIns="0" bIns="0">
            <a:spAutoFit/>
          </a:bodyPr>
          <a:lstStyle/>
          <a:p>
            <a:pPr algn="l">
              <a:lnSpc>
                <a:spcPct val="100000"/>
              </a:lnSpc>
            </a:pPr>
            <a:r>
              <a:rPr sz="1500" b="0" i="1">
                <a:solidFill>
                  <a:srgbClr val="8FB4DC"/>
                </a:solidFill>
                <a:latin typeface="Calibri"/>
              </a:rPr>
              <a:t>Questions welcome — and you can watch the whole thing run 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